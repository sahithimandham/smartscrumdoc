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bookmarkIdSeed="3">
  <p:sldMasterIdLst>
    <p:sldMasterId id="2147483648" r:id="rId1"/>
  </p:sldMasterIdLst>
  <p:notesMasterIdLst>
    <p:notesMasterId r:id="rId27"/>
  </p:notesMasterIdLst>
  <p:sldIdLst>
    <p:sldId id="256" r:id="rId2"/>
    <p:sldId id="257" r:id="rId3"/>
    <p:sldId id="533" r:id="rId4"/>
    <p:sldId id="570" r:id="rId5"/>
    <p:sldId id="535" r:id="rId6"/>
    <p:sldId id="536" r:id="rId7"/>
    <p:sldId id="537" r:id="rId8"/>
    <p:sldId id="580" r:id="rId9"/>
    <p:sldId id="579" r:id="rId10"/>
    <p:sldId id="538" r:id="rId11"/>
    <p:sldId id="571" r:id="rId12"/>
    <p:sldId id="518" r:id="rId13"/>
    <p:sldId id="577" r:id="rId14"/>
    <p:sldId id="519" r:id="rId15"/>
    <p:sldId id="578" r:id="rId16"/>
    <p:sldId id="573" r:id="rId17"/>
    <p:sldId id="520" r:id="rId18"/>
    <p:sldId id="521" r:id="rId19"/>
    <p:sldId id="522" r:id="rId20"/>
    <p:sldId id="523" r:id="rId21"/>
    <p:sldId id="548" r:id="rId22"/>
    <p:sldId id="527" r:id="rId23"/>
    <p:sldId id="581" r:id="rId24"/>
    <p:sldId id="582" r:id="rId25"/>
    <p:sldId id="370" r:id="rId26"/>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userDrawn="1">
          <p15:clr>
            <a:srgbClr val="A4A3A4"/>
          </p15:clr>
        </p15:guide>
        <p15:guide id="2" pos="21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8358" autoAdjust="0"/>
    <p:restoredTop sz="94660"/>
  </p:normalViewPr>
  <p:slideViewPr>
    <p:cSldViewPr showGuides="1">
      <p:cViewPr varScale="1">
        <p:scale>
          <a:sx n="82" d="100"/>
          <a:sy n="82" d="100"/>
        </p:scale>
        <p:origin x="893" y="72"/>
      </p:cViewPr>
      <p:guideLst>
        <p:guide orient="horz" pos="2880"/>
        <p:guide pos="21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73BDFC27-25DD-40A5-8378-01AC1A9975D1}" type="datetimeFigureOut">
              <a:rPr lang="en-IN" smtClean="0"/>
              <a:t>06-02-2026</a:t>
            </a:fld>
            <a:endParaRPr lang="en-IN"/>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984374F4-2032-43FF-ABD6-671E69ACD760}" type="slidenum">
              <a:rPr lang="en-IN" smtClean="0"/>
              <a:t>‹#›</a:t>
            </a:fld>
            <a:endParaRPr lang="en-IN"/>
          </a:p>
        </p:txBody>
      </p:sp>
    </p:spTree>
    <p:extLst>
      <p:ext uri="{BB962C8B-B14F-4D97-AF65-F5344CB8AC3E}">
        <p14:creationId xmlns:p14="http://schemas.microsoft.com/office/powerpoint/2010/main" val="11929854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 Id="rId5" Type="http://schemas.openxmlformats.org/officeDocument/2006/relationships/slideMaster" Target="../slideMasters/slideMaster1.xml"/><Relationship Id="rId4" Type="http://schemas.openxmlformats.org/officeDocument/2006/relationships/tags" Target="../tags/tag4.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231140" y="233171"/>
            <a:ext cx="8681719" cy="732155"/>
          </a:xfrm>
          <a:prstGeom prst="rect">
            <a:avLst/>
          </a:prstGeom>
        </p:spPr>
        <p:txBody>
          <a:bodyPr wrap="square" lIns="0" tIns="0" rIns="0" bIns="0">
            <a:spAutoFit/>
          </a:bodyPr>
          <a:lstStyle>
            <a:lvl1pPr>
              <a:defRPr sz="2400" b="1" i="0" u="heavy">
                <a:solidFill>
                  <a:srgbClr val="C00000"/>
                </a:solidFill>
                <a:latin typeface="Times New Roman" panose="02020603050405020304"/>
                <a:cs typeface="Times New Roman" panose="02020603050405020304"/>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2/6/2026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u="heavy">
                <a:solidFill>
                  <a:srgbClr val="C00000"/>
                </a:solidFill>
                <a:latin typeface="Times New Roman" panose="02020603050405020304"/>
                <a:cs typeface="Times New Roman" panose="02020603050405020304"/>
              </a:defRPr>
            </a:lvl1pPr>
          </a:lstStyle>
          <a:p>
            <a:endParaRPr/>
          </a:p>
        </p:txBody>
      </p:sp>
      <p:sp>
        <p:nvSpPr>
          <p:cNvPr id="3" name="Holder 3"/>
          <p:cNvSpPr>
            <a:spLocks noGrp="1"/>
          </p:cNvSpPr>
          <p:nvPr>
            <p:ph type="body" idx="1"/>
          </p:nvPr>
        </p:nvSpPr>
        <p:spPr/>
        <p:txBody>
          <a:bodyPr lIns="0" tIns="0" rIns="0" bIns="0"/>
          <a:lstStyle>
            <a:lvl1pPr>
              <a:defRPr sz="2000" b="0" i="0">
                <a:solidFill>
                  <a:srgbClr val="001F5F"/>
                </a:solidFill>
                <a:latin typeface="Times New Roman" panose="02020603050405020304"/>
                <a:cs typeface="Times New Roman" panose="02020603050405020304"/>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2/6/2026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u="heavy">
                <a:solidFill>
                  <a:srgbClr val="C00000"/>
                </a:solidFill>
                <a:latin typeface="Times New Roman" panose="02020603050405020304"/>
                <a:cs typeface="Times New Roman" panose="02020603050405020304"/>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2/6/2026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u="heavy">
                <a:solidFill>
                  <a:srgbClr val="C00000"/>
                </a:solidFill>
                <a:latin typeface="Times New Roman" panose="02020603050405020304"/>
                <a:cs typeface="Times New Roman" panose="02020603050405020304"/>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2/6/2026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2/6/2026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1"/>
            </p:custDataLst>
          </p:nvPr>
        </p:nvSpPr>
        <p:spPr>
          <a:xfrm>
            <a:off x="522000" y="1153054"/>
            <a:ext cx="8100000" cy="594000"/>
          </a:xfrm>
        </p:spPr>
        <p:txBody>
          <a:bodyPr lIns="0" tIns="0" rIns="0" bIns="0"/>
          <a:lstStyle>
            <a:lvl1pPr algn="l" fontAlgn="base">
              <a:defRPr sz="2400">
                <a:solidFill>
                  <a:schemeClr val="tx1">
                    <a:lumMod val="85000"/>
                    <a:lumOff val="15000"/>
                  </a:schemeClr>
                </a:solidFill>
                <a:latin typeface="+mj-lt"/>
              </a:defRPr>
            </a:lvl1pPr>
          </a:lstStyle>
          <a:p>
            <a:r>
              <a:rPr lang="en-US"/>
              <a:t>Click to add title</a:t>
            </a:r>
          </a:p>
        </p:txBody>
      </p:sp>
      <p:sp>
        <p:nvSpPr>
          <p:cNvPr id="3" name="日期占位符 2"/>
          <p:cNvSpPr>
            <a:spLocks noGrp="1"/>
          </p:cNvSpPr>
          <p:nvPr>
            <p:ph type="dt" sz="half" idx="10"/>
            <p:custDataLst>
              <p:tags r:id="rId2"/>
            </p:custDataLst>
          </p:nvPr>
        </p:nvSpPr>
        <p:spPr/>
        <p:txBody>
          <a:bodyPr/>
          <a:lstStyle>
            <a:lvl1pPr>
              <a:defRPr>
                <a:latin typeface="Arial" panose="020B0604020202020204" pitchFamily="34" charset="0"/>
                <a:sym typeface="Arial" panose="020B0604020202020204" pitchFamily="34" charset="0"/>
              </a:defRPr>
            </a:lvl1pPr>
          </a:lstStyle>
          <a:p>
            <a:r>
              <a:rPr lang="en-US"/>
              <a:t>Date Area</a:t>
            </a:r>
          </a:p>
        </p:txBody>
      </p:sp>
      <p:sp>
        <p:nvSpPr>
          <p:cNvPr id="4" name="页脚占位符 3"/>
          <p:cNvSpPr>
            <a:spLocks noGrp="1"/>
          </p:cNvSpPr>
          <p:nvPr>
            <p:ph type="ftr" sz="quarter" idx="11"/>
            <p:custDataLst>
              <p:tags r:id="rId3"/>
            </p:custDataLst>
          </p:nvPr>
        </p:nvSpPr>
        <p:spPr/>
        <p:txBody>
          <a:bodyPr/>
          <a:lstStyle>
            <a:lvl1pPr>
              <a:defRPr>
                <a:latin typeface="Arial" panose="020B0604020202020204" pitchFamily="34" charset="0"/>
                <a:sym typeface="Arial" panose="020B0604020202020204" pitchFamily="34" charset="0"/>
              </a:defRPr>
            </a:lvl1pPr>
          </a:lstStyle>
          <a:p>
            <a:endParaRPr lang="en-US" dirty="0"/>
          </a:p>
        </p:txBody>
      </p:sp>
      <p:sp>
        <p:nvSpPr>
          <p:cNvPr id="5" name="灯片编号占位符 4"/>
          <p:cNvSpPr>
            <a:spLocks noGrp="1"/>
          </p:cNvSpPr>
          <p:nvPr>
            <p:ph type="sldNum" sz="quarter" idx="12"/>
            <p:custDataLst>
              <p:tags r:id="rId4"/>
            </p:custDataLst>
          </p:nvPr>
        </p:nvSpPr>
        <p:spPr/>
        <p:txBody>
          <a:bodyPr/>
          <a:lstStyle>
            <a:lvl1pPr>
              <a:defRPr>
                <a:latin typeface="Arial" panose="020B0604020202020204" pitchFamily="34" charset="0"/>
                <a:sym typeface="Arial" panose="020B0604020202020204" pitchFamily="34" charset="0"/>
              </a:defRPr>
            </a:lvl1pPr>
          </a:lstStyle>
          <a:p>
            <a:fld id="{49AE70B2-8BF9-45C0-BB95-33D1B9D3A854}" type="slidenum">
              <a:rPr lang="en-US" smtClean="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64007" y="70103"/>
            <a:ext cx="9013190" cy="6693534"/>
          </a:xfrm>
          <a:custGeom>
            <a:avLst/>
            <a:gdLst/>
            <a:ahLst/>
            <a:cxnLst/>
            <a:rect l="l" t="t" r="r" b="b"/>
            <a:pathLst>
              <a:path w="9013190" h="6693534">
                <a:moveTo>
                  <a:pt x="0" y="329946"/>
                </a:moveTo>
                <a:lnTo>
                  <a:pt x="3577" y="281184"/>
                </a:lnTo>
                <a:lnTo>
                  <a:pt x="13968" y="234645"/>
                </a:lnTo>
                <a:lnTo>
                  <a:pt x="30664" y="190840"/>
                </a:lnTo>
                <a:lnTo>
                  <a:pt x="53153" y="150277"/>
                </a:lnTo>
                <a:lnTo>
                  <a:pt x="80925" y="113468"/>
                </a:lnTo>
                <a:lnTo>
                  <a:pt x="113469" y="80923"/>
                </a:lnTo>
                <a:lnTo>
                  <a:pt x="150276" y="53151"/>
                </a:lnTo>
                <a:lnTo>
                  <a:pt x="190835" y="30662"/>
                </a:lnTo>
                <a:lnTo>
                  <a:pt x="234636" y="13967"/>
                </a:lnTo>
                <a:lnTo>
                  <a:pt x="281168" y="3576"/>
                </a:lnTo>
                <a:lnTo>
                  <a:pt x="329920" y="0"/>
                </a:lnTo>
                <a:lnTo>
                  <a:pt x="8682990" y="0"/>
                </a:lnTo>
                <a:lnTo>
                  <a:pt x="8731751" y="3576"/>
                </a:lnTo>
                <a:lnTo>
                  <a:pt x="8778290" y="13967"/>
                </a:lnTo>
                <a:lnTo>
                  <a:pt x="8822095" y="30662"/>
                </a:lnTo>
                <a:lnTo>
                  <a:pt x="8862658" y="53151"/>
                </a:lnTo>
                <a:lnTo>
                  <a:pt x="8899467" y="80923"/>
                </a:lnTo>
                <a:lnTo>
                  <a:pt x="8932012" y="113468"/>
                </a:lnTo>
                <a:lnTo>
                  <a:pt x="8959784" y="150277"/>
                </a:lnTo>
                <a:lnTo>
                  <a:pt x="8982273" y="190840"/>
                </a:lnTo>
                <a:lnTo>
                  <a:pt x="8998968" y="234645"/>
                </a:lnTo>
                <a:lnTo>
                  <a:pt x="9009359" y="281184"/>
                </a:lnTo>
                <a:lnTo>
                  <a:pt x="9012936" y="329946"/>
                </a:lnTo>
                <a:lnTo>
                  <a:pt x="9012936" y="6363487"/>
                </a:lnTo>
                <a:lnTo>
                  <a:pt x="9009359" y="6412239"/>
                </a:lnTo>
                <a:lnTo>
                  <a:pt x="8998968" y="6458771"/>
                </a:lnTo>
                <a:lnTo>
                  <a:pt x="8982273" y="6502571"/>
                </a:lnTo>
                <a:lnTo>
                  <a:pt x="8959784" y="6543130"/>
                </a:lnTo>
                <a:lnTo>
                  <a:pt x="8932012" y="6579937"/>
                </a:lnTo>
                <a:lnTo>
                  <a:pt x="8899467" y="6612482"/>
                </a:lnTo>
                <a:lnTo>
                  <a:pt x="8862658" y="6640254"/>
                </a:lnTo>
                <a:lnTo>
                  <a:pt x="8822095" y="6662742"/>
                </a:lnTo>
                <a:lnTo>
                  <a:pt x="8778290" y="6679438"/>
                </a:lnTo>
                <a:lnTo>
                  <a:pt x="8731751" y="6689829"/>
                </a:lnTo>
                <a:lnTo>
                  <a:pt x="8682990" y="6693406"/>
                </a:lnTo>
                <a:lnTo>
                  <a:pt x="329920" y="6693406"/>
                </a:lnTo>
                <a:lnTo>
                  <a:pt x="281168" y="6689829"/>
                </a:lnTo>
                <a:lnTo>
                  <a:pt x="234636" y="6679438"/>
                </a:lnTo>
                <a:lnTo>
                  <a:pt x="190835" y="6662742"/>
                </a:lnTo>
                <a:lnTo>
                  <a:pt x="150276" y="6640254"/>
                </a:lnTo>
                <a:lnTo>
                  <a:pt x="113469" y="6612482"/>
                </a:lnTo>
                <a:lnTo>
                  <a:pt x="80925" y="6579937"/>
                </a:lnTo>
                <a:lnTo>
                  <a:pt x="53153" y="6543130"/>
                </a:lnTo>
                <a:lnTo>
                  <a:pt x="30664" y="6502571"/>
                </a:lnTo>
                <a:lnTo>
                  <a:pt x="13968" y="6458771"/>
                </a:lnTo>
                <a:lnTo>
                  <a:pt x="3577" y="6412239"/>
                </a:lnTo>
                <a:lnTo>
                  <a:pt x="0" y="6363487"/>
                </a:lnTo>
                <a:lnTo>
                  <a:pt x="0" y="329946"/>
                </a:lnTo>
                <a:close/>
              </a:path>
            </a:pathLst>
          </a:custGeom>
          <a:ln w="6096">
            <a:solidFill>
              <a:srgbClr val="000000"/>
            </a:solidFill>
          </a:ln>
        </p:spPr>
        <p:txBody>
          <a:bodyPr wrap="square" lIns="0" tIns="0" rIns="0" bIns="0" rtlCol="0"/>
          <a:lstStyle/>
          <a:p>
            <a:endParaRPr/>
          </a:p>
        </p:txBody>
      </p:sp>
      <p:sp>
        <p:nvSpPr>
          <p:cNvPr id="2" name="Holder 2"/>
          <p:cNvSpPr>
            <a:spLocks noGrp="1"/>
          </p:cNvSpPr>
          <p:nvPr>
            <p:ph type="title"/>
          </p:nvPr>
        </p:nvSpPr>
        <p:spPr>
          <a:xfrm>
            <a:off x="231140" y="99948"/>
            <a:ext cx="8681719" cy="731519"/>
          </a:xfrm>
          <a:prstGeom prst="rect">
            <a:avLst/>
          </a:prstGeom>
        </p:spPr>
        <p:txBody>
          <a:bodyPr wrap="square" lIns="0" tIns="0" rIns="0" bIns="0">
            <a:spAutoFit/>
          </a:bodyPr>
          <a:lstStyle>
            <a:lvl1pPr>
              <a:defRPr sz="2400" b="1" i="0" u="heavy">
                <a:solidFill>
                  <a:srgbClr val="C00000"/>
                </a:solidFill>
                <a:latin typeface="Times New Roman" panose="02020603050405020304"/>
                <a:cs typeface="Times New Roman" panose="02020603050405020304"/>
              </a:defRPr>
            </a:lvl1pPr>
          </a:lstStyle>
          <a:p>
            <a:endParaRPr/>
          </a:p>
        </p:txBody>
      </p:sp>
      <p:sp>
        <p:nvSpPr>
          <p:cNvPr id="3" name="Holder 3"/>
          <p:cNvSpPr>
            <a:spLocks noGrp="1"/>
          </p:cNvSpPr>
          <p:nvPr>
            <p:ph type="body" idx="1"/>
          </p:nvPr>
        </p:nvSpPr>
        <p:spPr>
          <a:xfrm>
            <a:off x="262534" y="1485138"/>
            <a:ext cx="8531860" cy="4509135"/>
          </a:xfrm>
          <a:prstGeom prst="rect">
            <a:avLst/>
          </a:prstGeom>
        </p:spPr>
        <p:txBody>
          <a:bodyPr wrap="square" lIns="0" tIns="0" rIns="0" bIns="0">
            <a:spAutoFit/>
          </a:bodyPr>
          <a:lstStyle>
            <a:lvl1pPr>
              <a:defRPr sz="2000" b="0" i="0">
                <a:solidFill>
                  <a:srgbClr val="001F5F"/>
                </a:solidFill>
                <a:latin typeface="Times New Roman" panose="02020603050405020304"/>
                <a:cs typeface="Times New Roman" panose="02020603050405020304"/>
              </a:defRPr>
            </a:lvl1pPr>
          </a:lstStyle>
          <a:p>
            <a:endParaRPr/>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2/6/2026</a:t>
            </a:fld>
            <a:endParaRPr lang="en-US"/>
          </a:p>
        </p:txBody>
      </p:sp>
      <p:sp>
        <p:nvSpPr>
          <p:cNvPr id="6" name="Holder 6"/>
          <p:cNvSpPr>
            <a:spLocks noGrp="1"/>
          </p:cNvSpPr>
          <p:nvPr>
            <p:ph type="sldNum" sz="quarter" idx="7"/>
          </p:nvPr>
        </p:nvSpPr>
        <p:spPr>
          <a:xfrm>
            <a:off x="6583680" y="6377940"/>
            <a:ext cx="21031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www.researchgate.net/publication/360456552_Automatic_Generation_of_Minutes_of_Meetings" TargetMode="External"/><Relationship Id="rId2" Type="http://schemas.openxmlformats.org/officeDocument/2006/relationships/hyperlink" Target="https://www.itm-conferences.org/articles/itmconf/pdf/2022/04/itmconf_icacc2022_03063.pdf" TargetMode="External"/><Relationship Id="rId1" Type="http://schemas.openxmlformats.org/officeDocument/2006/relationships/slideLayout" Target="../slideLayouts/slideLayout2.xml"/><Relationship Id="rId6" Type="http://schemas.openxmlformats.org/officeDocument/2006/relationships/hyperlink" Target="https://www.researchgate.net/publication/220655948_Speaker_Diarization_A_Review_of_Recent_Research" TargetMode="External"/><Relationship Id="rId5" Type="http://schemas.openxmlformats.org/officeDocument/2006/relationships/hyperlink" Target="https://dl.acm.org/doi/10.1145/3633598.3633600" TargetMode="External"/><Relationship Id="rId4" Type="http://schemas.openxmlformats.org/officeDocument/2006/relationships/hyperlink" Target="https://papers.ssrn.com/sol3/papers.cfm?abstract_id=5319091"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1337460"/>
            <a:ext cx="8464655" cy="1923604"/>
          </a:xfrm>
          <a:prstGeom prst="rect">
            <a:avLst/>
          </a:prstGeom>
        </p:spPr>
        <p:txBody>
          <a:bodyPr vert="horz" wrap="square" lIns="0" tIns="0" rIns="0" bIns="0" rtlCol="0">
            <a:spAutoFit/>
          </a:bodyPr>
          <a:lstStyle/>
          <a:p>
            <a:pPr marL="12065" marR="5080" algn="ctr"/>
            <a:r>
              <a:rPr lang="en-IN" sz="3200" dirty="0"/>
              <a:t>Smart Scrum Doc: Automated Scrum Meeting Documentation System</a:t>
            </a:r>
            <a:br>
              <a:rPr lang="en-US" sz="3200" dirty="0"/>
            </a:br>
            <a:br>
              <a:rPr lang="en-US" sz="3200" dirty="0"/>
            </a:br>
            <a:endParaRPr lang="en-US" sz="2900" dirty="0">
              <a:latin typeface="Times New Roman" panose="02020603050405020304"/>
              <a:cs typeface="Times New Roman" panose="02020603050405020304"/>
            </a:endParaRPr>
          </a:p>
        </p:txBody>
      </p:sp>
      <p:sp>
        <p:nvSpPr>
          <p:cNvPr id="3" name="object 3"/>
          <p:cNvSpPr txBox="1"/>
          <p:nvPr/>
        </p:nvSpPr>
        <p:spPr>
          <a:xfrm>
            <a:off x="2743200" y="2261162"/>
            <a:ext cx="4726940" cy="1923604"/>
          </a:xfrm>
          <a:prstGeom prst="rect">
            <a:avLst/>
          </a:prstGeom>
        </p:spPr>
        <p:txBody>
          <a:bodyPr vert="horz" wrap="square" lIns="0" tIns="0" rIns="0" bIns="0" rtlCol="0" anchor="t">
            <a:spAutoFit/>
          </a:bodyPr>
          <a:lstStyle/>
          <a:p>
            <a:pPr marR="31750" algn="ctr">
              <a:lnSpc>
                <a:spcPct val="100000"/>
              </a:lnSpc>
            </a:pPr>
            <a:endParaRPr sz="2000" dirty="0">
              <a:latin typeface="Perpetua" panose="02020502060401020303"/>
              <a:cs typeface="Perpetua" panose="02020502060401020303"/>
            </a:endParaRPr>
          </a:p>
          <a:p>
            <a:pPr marL="145415" marR="176530" indent="-1270" algn="just">
              <a:lnSpc>
                <a:spcPct val="105000"/>
              </a:lnSpc>
            </a:pPr>
            <a:r>
              <a:rPr lang="en-IN" altLang="en-US" sz="2000" b="1" spc="-10" dirty="0">
                <a:solidFill>
                  <a:srgbClr val="FF0000"/>
                </a:solidFill>
                <a:latin typeface="Times New Roman" panose="02020603050405020304" pitchFamily="18" charset="0"/>
                <a:cs typeface="Times New Roman" panose="02020603050405020304" pitchFamily="18" charset="0"/>
              </a:rPr>
              <a:t>                     </a:t>
            </a:r>
            <a:r>
              <a:rPr lang="en-IN" altLang="en-US" sz="2000" b="1" spc="-10" dirty="0">
                <a:solidFill>
                  <a:schemeClr val="tx1"/>
                </a:solidFill>
                <a:latin typeface="Times New Roman" panose="02020603050405020304" pitchFamily="18" charset="0"/>
                <a:cs typeface="Times New Roman" panose="02020603050405020304" pitchFamily="18" charset="0"/>
              </a:rPr>
              <a:t>    BY</a:t>
            </a:r>
            <a:endParaRPr lang="en-IN" altLang="en-US" sz="2000" b="1" spc="-10" dirty="0">
              <a:solidFill>
                <a:srgbClr val="FF0000"/>
              </a:solidFill>
              <a:latin typeface="Times New Roman" panose="02020603050405020304" pitchFamily="18" charset="0"/>
              <a:cs typeface="Times New Roman" panose="02020603050405020304" pitchFamily="18" charset="0"/>
            </a:endParaRPr>
          </a:p>
          <a:p>
            <a:pPr marL="145415" marR="176530" indent="-1270" algn="just">
              <a:lnSpc>
                <a:spcPct val="105000"/>
              </a:lnSpc>
            </a:pPr>
            <a:r>
              <a:rPr lang="en-US" sz="2000" b="1" spc="-10" dirty="0">
                <a:solidFill>
                  <a:srgbClr val="FF0000"/>
                </a:solidFill>
                <a:latin typeface="Times New Roman" panose="02020603050405020304" pitchFamily="18" charset="0"/>
                <a:cs typeface="Times New Roman" panose="02020603050405020304" pitchFamily="18" charset="0"/>
              </a:rPr>
              <a:t>2211CS050023  - </a:t>
            </a:r>
            <a:r>
              <a:rPr lang="en-US" sz="2000" b="1" spc="-10" dirty="0" err="1">
                <a:solidFill>
                  <a:srgbClr val="FF0000"/>
                </a:solidFill>
                <a:latin typeface="Times New Roman" panose="02020603050405020304" pitchFamily="18" charset="0"/>
                <a:cs typeface="Times New Roman" panose="02020603050405020304" pitchFamily="18" charset="0"/>
              </a:rPr>
              <a:t>Devansh</a:t>
            </a:r>
            <a:r>
              <a:rPr lang="en-US" sz="2000" b="1" spc="-10" dirty="0">
                <a:solidFill>
                  <a:srgbClr val="FF0000"/>
                </a:solidFill>
                <a:latin typeface="Times New Roman" panose="02020603050405020304" pitchFamily="18" charset="0"/>
                <a:cs typeface="Times New Roman" panose="02020603050405020304" pitchFamily="18" charset="0"/>
              </a:rPr>
              <a:t> Mishra</a:t>
            </a:r>
          </a:p>
          <a:p>
            <a:pPr marL="145415" marR="176530" indent="-1270" algn="just">
              <a:lnSpc>
                <a:spcPct val="105000"/>
              </a:lnSpc>
            </a:pPr>
            <a:r>
              <a:rPr lang="en-US" sz="2000" b="1" spc="-10" dirty="0">
                <a:solidFill>
                  <a:srgbClr val="FF0000"/>
                </a:solidFill>
                <a:latin typeface="Times New Roman" panose="02020603050405020304" pitchFamily="18" charset="0"/>
                <a:cs typeface="Times New Roman" panose="02020603050405020304" pitchFamily="18" charset="0"/>
                <a:sym typeface="+mn-ea"/>
              </a:rPr>
              <a:t>2211CS0500</a:t>
            </a:r>
            <a:r>
              <a:rPr lang="en-IN" sz="2000" b="1" spc="-10" dirty="0">
                <a:solidFill>
                  <a:srgbClr val="FF0000"/>
                </a:solidFill>
                <a:latin typeface="Times New Roman" panose="02020603050405020304" pitchFamily="18" charset="0"/>
                <a:cs typeface="Times New Roman" panose="02020603050405020304" pitchFamily="18" charset="0"/>
                <a:sym typeface="+mn-ea"/>
              </a:rPr>
              <a:t>29</a:t>
            </a:r>
            <a:r>
              <a:rPr lang="en-IN" altLang="en-US" sz="2000" b="1" spc="-10" dirty="0">
                <a:solidFill>
                  <a:srgbClr val="FF0000"/>
                </a:solidFill>
                <a:latin typeface="Times New Roman" panose="02020603050405020304" pitchFamily="18" charset="0"/>
                <a:cs typeface="Times New Roman" panose="02020603050405020304" pitchFamily="18" charset="0"/>
                <a:sym typeface="+mn-ea"/>
              </a:rPr>
              <a:t>  - Geetha Sirvi</a:t>
            </a:r>
          </a:p>
          <a:p>
            <a:pPr marL="145415" marR="176530" indent="-1270" algn="just">
              <a:lnSpc>
                <a:spcPct val="105000"/>
              </a:lnSpc>
            </a:pPr>
            <a:r>
              <a:rPr lang="en-IN" sz="2000" b="1" spc="-10" dirty="0">
                <a:solidFill>
                  <a:srgbClr val="FF0000"/>
                </a:solidFill>
                <a:latin typeface="Times New Roman" panose="02020603050405020304" pitchFamily="18" charset="0"/>
                <a:cs typeface="Times New Roman" panose="02020603050405020304" pitchFamily="18" charset="0"/>
                <a:sym typeface="+mn-ea"/>
              </a:rPr>
              <a:t>2211CS050062  -  </a:t>
            </a:r>
            <a:r>
              <a:rPr lang="en-IN" sz="2000" b="1" spc="-10" dirty="0" err="1">
                <a:solidFill>
                  <a:srgbClr val="FF0000"/>
                </a:solidFill>
                <a:latin typeface="Times New Roman" panose="02020603050405020304" pitchFamily="18" charset="0"/>
                <a:cs typeface="Times New Roman" panose="02020603050405020304" pitchFamily="18" charset="0"/>
                <a:sym typeface="+mn-ea"/>
              </a:rPr>
              <a:t>Mandham</a:t>
            </a:r>
            <a:r>
              <a:rPr lang="en-IN" sz="2000" b="1" spc="-10" dirty="0">
                <a:solidFill>
                  <a:srgbClr val="FF0000"/>
                </a:solidFill>
                <a:latin typeface="Times New Roman" panose="02020603050405020304" pitchFamily="18" charset="0"/>
                <a:cs typeface="Times New Roman" panose="02020603050405020304" pitchFamily="18" charset="0"/>
                <a:sym typeface="+mn-ea"/>
              </a:rPr>
              <a:t> Sahithi</a:t>
            </a:r>
            <a:endParaRPr lang="en-US" sz="2000" b="1" spc="-10" dirty="0">
              <a:solidFill>
                <a:srgbClr val="FF0000"/>
              </a:solidFill>
              <a:latin typeface="Times New Roman" panose="02020603050405020304" pitchFamily="18" charset="0"/>
              <a:cs typeface="Times New Roman" panose="02020603050405020304" pitchFamily="18" charset="0"/>
            </a:endParaRPr>
          </a:p>
          <a:p>
            <a:pPr marL="145415" marR="176530" indent="-1270" algn="ctr">
              <a:lnSpc>
                <a:spcPct val="105000"/>
              </a:lnSpc>
            </a:pPr>
            <a:endParaRPr lang="en-US" sz="2000" b="1" spc="-10" dirty="0">
              <a:solidFill>
                <a:srgbClr val="FF0000"/>
              </a:solidFill>
              <a:latin typeface="Times New Roman" panose="02020603050405020304" pitchFamily="18" charset="0"/>
              <a:cs typeface="Times New Roman" panose="02020603050405020304" pitchFamily="18" charset="0"/>
            </a:endParaRPr>
          </a:p>
        </p:txBody>
      </p:sp>
      <p:sp>
        <p:nvSpPr>
          <p:cNvPr id="4" name="object 4"/>
          <p:cNvSpPr txBox="1"/>
          <p:nvPr/>
        </p:nvSpPr>
        <p:spPr>
          <a:xfrm>
            <a:off x="2853846" y="4020931"/>
            <a:ext cx="3564890" cy="1600200"/>
          </a:xfrm>
          <a:prstGeom prst="rect">
            <a:avLst/>
          </a:prstGeom>
        </p:spPr>
        <p:txBody>
          <a:bodyPr vert="horz" wrap="square" lIns="0" tIns="0" rIns="0" bIns="0" rtlCol="0">
            <a:spAutoFit/>
          </a:bodyPr>
          <a:lstStyle/>
          <a:p>
            <a:pPr marL="12700" algn="ctr">
              <a:spcBef>
                <a:spcPts val="120"/>
              </a:spcBef>
            </a:pPr>
            <a:r>
              <a:rPr lang="en-US" sz="2000" b="1" dirty="0">
                <a:latin typeface="Times New Roman" panose="02020603050405020304" pitchFamily="18" charset="0"/>
                <a:cs typeface="Times New Roman" panose="02020603050405020304" pitchFamily="18" charset="0"/>
              </a:rPr>
              <a:t>Under </a:t>
            </a:r>
            <a:r>
              <a:rPr lang="en-US" sz="2000" b="1" spc="-5" dirty="0">
                <a:latin typeface="Times New Roman" panose="02020603050405020304" pitchFamily="18" charset="0"/>
                <a:cs typeface="Times New Roman" panose="02020603050405020304" pitchFamily="18" charset="0"/>
              </a:rPr>
              <a:t>the guidanc</a:t>
            </a:r>
            <a:r>
              <a:rPr lang="en-US" sz="2000" b="1" dirty="0">
                <a:latin typeface="Times New Roman" panose="02020603050405020304" pitchFamily="18" charset="0"/>
                <a:cs typeface="Times New Roman" panose="02020603050405020304" pitchFamily="18" charset="0"/>
              </a:rPr>
              <a:t>e</a:t>
            </a:r>
            <a:r>
              <a:rPr lang="en-US" sz="2000" b="1" spc="-105"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of</a:t>
            </a:r>
          </a:p>
          <a:p>
            <a:pPr marL="12700" algn="ctr">
              <a:spcBef>
                <a:spcPts val="120"/>
              </a:spcBef>
            </a:pPr>
            <a:r>
              <a:rPr lang="en-IN" sz="2000" b="1" spc="-40" dirty="0" err="1">
                <a:solidFill>
                  <a:srgbClr val="FF0000"/>
                </a:solidFill>
                <a:latin typeface="Times New Roman" panose="02020603050405020304" pitchFamily="18" charset="0"/>
                <a:cs typeface="Times New Roman" panose="02020603050405020304" pitchFamily="18" charset="0"/>
              </a:rPr>
              <a:t>Dr.M.V.N Srujan Manohar</a:t>
            </a:r>
            <a:endParaRPr lang="en-IN" sz="2000" b="1" spc="-40" dirty="0">
              <a:solidFill>
                <a:srgbClr val="FF0000"/>
              </a:solidFill>
              <a:latin typeface="Times New Roman" panose="02020603050405020304" pitchFamily="18" charset="0"/>
              <a:cs typeface="Times New Roman" panose="02020603050405020304" pitchFamily="18" charset="0"/>
            </a:endParaRPr>
          </a:p>
          <a:p>
            <a:pPr marL="12700" algn="ctr">
              <a:lnSpc>
                <a:spcPct val="100000"/>
              </a:lnSpc>
              <a:spcBef>
                <a:spcPts val="120"/>
              </a:spcBef>
            </a:pPr>
            <a:r>
              <a:rPr lang="en-IN" sz="2000" b="1" spc="-40" dirty="0">
                <a:solidFill>
                  <a:srgbClr val="FF0000"/>
                </a:solidFill>
                <a:latin typeface="Times New Roman" panose="02020603050405020304" pitchFamily="18" charset="0"/>
                <a:cs typeface="Times New Roman" panose="02020603050405020304" pitchFamily="18" charset="0"/>
              </a:rPr>
              <a:t>Associate professor</a:t>
            </a:r>
          </a:p>
          <a:p>
            <a:pPr marL="12700" algn="ctr">
              <a:lnSpc>
                <a:spcPct val="100000"/>
              </a:lnSpc>
              <a:spcBef>
                <a:spcPts val="120"/>
              </a:spcBef>
            </a:pPr>
            <a:endParaRPr sz="2000" dirty="0">
              <a:latin typeface="Perpetua" panose="02020502060401020303"/>
              <a:cs typeface="Perpetua" panose="02020502060401020303"/>
            </a:endParaRPr>
          </a:p>
          <a:p>
            <a:pPr marL="12700" algn="ctr">
              <a:lnSpc>
                <a:spcPct val="100000"/>
              </a:lnSpc>
              <a:spcBef>
                <a:spcPts val="120"/>
              </a:spcBef>
            </a:pPr>
            <a:endParaRPr lang="en-IN" sz="2000" spc="-5" dirty="0">
              <a:solidFill>
                <a:srgbClr val="FF0000"/>
              </a:solidFill>
              <a:latin typeface="Perpetua" panose="02020502060401020303"/>
              <a:cs typeface="Perpetua" panose="02020502060401020303"/>
            </a:endParaRPr>
          </a:p>
        </p:txBody>
      </p:sp>
      <p:sp>
        <p:nvSpPr>
          <p:cNvPr id="6" name="object 6"/>
          <p:cNvSpPr txBox="1"/>
          <p:nvPr/>
        </p:nvSpPr>
        <p:spPr>
          <a:xfrm>
            <a:off x="1572831" y="5105004"/>
            <a:ext cx="6379337" cy="1196418"/>
          </a:xfrm>
          <a:prstGeom prst="rect">
            <a:avLst/>
          </a:prstGeom>
        </p:spPr>
        <p:txBody>
          <a:bodyPr vert="horz" wrap="square" lIns="0" tIns="0" rIns="0" bIns="0" rtlCol="0">
            <a:spAutoFit/>
          </a:bodyPr>
          <a:lstStyle/>
          <a:p>
            <a:pPr marL="12700" marR="5080" indent="-635" algn="ctr">
              <a:lnSpc>
                <a:spcPct val="105000"/>
              </a:lnSpc>
            </a:pPr>
            <a:r>
              <a:rPr lang="en-IN" sz="1800" b="1" spc="-5" dirty="0">
                <a:solidFill>
                  <a:srgbClr val="0004A1"/>
                </a:solidFill>
                <a:latin typeface="Times New Roman" panose="02020603050405020304" pitchFamily="18" charset="0"/>
                <a:ea typeface="Tahoma" panose="020B0604030504040204" pitchFamily="34" charset="0"/>
                <a:cs typeface="Times New Roman" panose="02020603050405020304" pitchFamily="18" charset="0"/>
              </a:rPr>
              <a:t>Department of </a:t>
            </a:r>
            <a:r>
              <a:rPr lang="en-IN" b="1" spc="-5" dirty="0">
                <a:solidFill>
                  <a:srgbClr val="0004A1"/>
                </a:solidFill>
                <a:latin typeface="Times New Roman" panose="02020603050405020304" pitchFamily="18" charset="0"/>
                <a:ea typeface="Tahoma" panose="020B0604030504040204" pitchFamily="34" charset="0"/>
                <a:cs typeface="Times New Roman" panose="02020603050405020304" pitchFamily="18" charset="0"/>
              </a:rPr>
              <a:t>Internet of Things(IOT)</a:t>
            </a:r>
            <a:r>
              <a:rPr lang="en-IN" sz="1800" b="1" spc="-5" dirty="0">
                <a:solidFill>
                  <a:srgbClr val="0004A1"/>
                </a:solidFill>
                <a:latin typeface="Times New Roman" panose="02020603050405020304" pitchFamily="18" charset="0"/>
                <a:ea typeface="Tahoma" panose="020B0604030504040204" pitchFamily="34" charset="0"/>
                <a:cs typeface="Times New Roman" panose="02020603050405020304" pitchFamily="18" charset="0"/>
              </a:rPr>
              <a:t> </a:t>
            </a:r>
          </a:p>
          <a:p>
            <a:pPr marL="12700" marR="5080" indent="-635" algn="ctr">
              <a:lnSpc>
                <a:spcPct val="105000"/>
              </a:lnSpc>
            </a:pPr>
            <a:r>
              <a:rPr lang="en-IN" sz="1800" b="1" spc="-5" dirty="0">
                <a:solidFill>
                  <a:srgbClr val="0004A1"/>
                </a:solidFill>
                <a:latin typeface="Times New Roman" panose="02020603050405020304" pitchFamily="18" charset="0"/>
                <a:ea typeface="Tahoma" panose="020B0604030504040204" pitchFamily="34" charset="0"/>
                <a:cs typeface="Times New Roman" panose="02020603050405020304" pitchFamily="18" charset="0"/>
              </a:rPr>
              <a:t>School of Engineering</a:t>
            </a:r>
          </a:p>
          <a:p>
            <a:pPr marL="12700" marR="5080" indent="-635" algn="ctr">
              <a:lnSpc>
                <a:spcPct val="105000"/>
              </a:lnSpc>
            </a:pPr>
            <a:r>
              <a:rPr lang="en-US" sz="2000" b="1" spc="-15" dirty="0" err="1">
                <a:solidFill>
                  <a:srgbClr val="0004A1"/>
                </a:solidFill>
                <a:latin typeface="Times New Roman" panose="02020603050405020304" pitchFamily="18" charset="0"/>
                <a:ea typeface="Tahoma" panose="020B0604030504040204" pitchFamily="34" charset="0"/>
                <a:cs typeface="Times New Roman" panose="02020603050405020304" pitchFamily="18" charset="0"/>
              </a:rPr>
              <a:t>Malla</a:t>
            </a:r>
            <a:r>
              <a:rPr lang="en-US" sz="2000" b="1" spc="-15" dirty="0">
                <a:solidFill>
                  <a:srgbClr val="0004A1"/>
                </a:solidFill>
                <a:latin typeface="Times New Roman" panose="02020603050405020304" pitchFamily="18" charset="0"/>
                <a:ea typeface="Tahoma" panose="020B0604030504040204" pitchFamily="34" charset="0"/>
                <a:cs typeface="Times New Roman" panose="02020603050405020304" pitchFamily="18" charset="0"/>
              </a:rPr>
              <a:t> Reddy University</a:t>
            </a:r>
          </a:p>
          <a:p>
            <a:pPr marL="12700" marR="5080" indent="-635" algn="ctr">
              <a:lnSpc>
                <a:spcPct val="105000"/>
              </a:lnSpc>
            </a:pPr>
            <a:r>
              <a:rPr lang="en-US" sz="2000" b="1" spc="-5" dirty="0">
                <a:solidFill>
                  <a:srgbClr val="0004A1"/>
                </a:solidFill>
                <a:latin typeface="Times New Roman" panose="02020603050405020304" pitchFamily="18" charset="0"/>
                <a:ea typeface="Tahoma" panose="020B0604030504040204" pitchFamily="34" charset="0"/>
                <a:cs typeface="Times New Roman" panose="02020603050405020304" pitchFamily="18" charset="0"/>
              </a:rPr>
              <a:t>Hyderabad</a:t>
            </a:r>
            <a:r>
              <a:rPr sz="2000" b="1" spc="-5" dirty="0">
                <a:solidFill>
                  <a:srgbClr val="0004A1"/>
                </a:solidFill>
                <a:latin typeface="Times New Roman" panose="02020603050405020304" pitchFamily="18" charset="0"/>
                <a:ea typeface="Tahoma" panose="020B0604030504040204" pitchFamily="34" charset="0"/>
                <a:cs typeface="Times New Roman" panose="02020603050405020304" pitchFamily="18" charset="0"/>
              </a:rPr>
              <a:t>, </a:t>
            </a:r>
            <a:r>
              <a:rPr lang="en-IN" sz="2000" b="1" spc="-70" dirty="0">
                <a:solidFill>
                  <a:srgbClr val="0004A1"/>
                </a:solidFill>
                <a:latin typeface="Times New Roman" panose="02020603050405020304" pitchFamily="18" charset="0"/>
                <a:ea typeface="Tahoma" panose="020B0604030504040204" pitchFamily="34" charset="0"/>
                <a:cs typeface="Times New Roman" panose="02020603050405020304" pitchFamily="18" charset="0"/>
              </a:rPr>
              <a:t>Telangana</a:t>
            </a:r>
            <a:r>
              <a:rPr sz="2000" b="1" spc="-70" dirty="0">
                <a:solidFill>
                  <a:srgbClr val="0004A1"/>
                </a:solidFill>
                <a:latin typeface="Times New Roman" panose="02020603050405020304" pitchFamily="18" charset="0"/>
                <a:ea typeface="Tahoma" panose="020B0604030504040204" pitchFamily="34" charset="0"/>
                <a:cs typeface="Times New Roman" panose="02020603050405020304" pitchFamily="18" charset="0"/>
              </a:rPr>
              <a:t>,</a:t>
            </a:r>
            <a:r>
              <a:rPr sz="2000" b="1" spc="-305" dirty="0">
                <a:solidFill>
                  <a:srgbClr val="0004A1"/>
                </a:solidFill>
                <a:latin typeface="Times New Roman" panose="02020603050405020304" pitchFamily="18" charset="0"/>
                <a:ea typeface="Tahoma" panose="020B0604030504040204" pitchFamily="34" charset="0"/>
                <a:cs typeface="Times New Roman" panose="02020603050405020304" pitchFamily="18" charset="0"/>
              </a:rPr>
              <a:t> </a:t>
            </a:r>
            <a:r>
              <a:rPr lang="en-US" sz="2000" b="1" spc="-305" dirty="0">
                <a:solidFill>
                  <a:srgbClr val="0004A1"/>
                </a:solidFill>
                <a:latin typeface="Times New Roman" panose="02020603050405020304" pitchFamily="18" charset="0"/>
                <a:ea typeface="Tahoma" panose="020B0604030504040204" pitchFamily="34" charset="0"/>
                <a:cs typeface="Times New Roman" panose="02020603050405020304" pitchFamily="18" charset="0"/>
              </a:rPr>
              <a:t> </a:t>
            </a:r>
            <a:r>
              <a:rPr sz="2000" b="1" spc="-5" dirty="0">
                <a:solidFill>
                  <a:srgbClr val="0004A1"/>
                </a:solidFill>
                <a:latin typeface="Times New Roman" panose="02020603050405020304" pitchFamily="18" charset="0"/>
                <a:ea typeface="Tahoma" panose="020B0604030504040204" pitchFamily="34" charset="0"/>
                <a:cs typeface="Times New Roman" panose="02020603050405020304" pitchFamily="18" charset="0"/>
              </a:rPr>
              <a:t>INDIA</a:t>
            </a:r>
            <a:endParaRPr sz="2000" dirty="0">
              <a:latin typeface="Times New Roman" panose="02020603050405020304" pitchFamily="18" charset="0"/>
              <a:ea typeface="Tahoma" panose="020B0604030504040204" pitchFamily="34" charset="0"/>
              <a:cs typeface="Times New Roman" panose="02020603050405020304" pitchFamily="18" charset="0"/>
            </a:endParaRP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57200" y="4785967"/>
            <a:ext cx="1752600" cy="1680722"/>
          </a:xfrm>
          <a:prstGeom prst="rect">
            <a:avLst/>
          </a:prstGeom>
        </p:spPr>
      </p:pic>
      <p:pic>
        <p:nvPicPr>
          <p:cNvPr id="1026" name="Picture 2" descr="https://media.canva.com/v2/image-resize/format:PNG/height:201/quality:100/uri:s3%3A%2F%2Fmedia-private.canva.com%2FvWIZw%2FMAFlf_vWIZw%2F1%2Fp.png/watermark:F/width:1600?csig=AAAAAAAAAAAAAAAAAAAAAOO0poUFc-afTA0CQmZiJvOZB6_12u11zCO9oHkSofRN&amp;exp=1729982540&amp;osig=AAAAAAAAAAAAAAAAAAAAANVNAz9occglj2lrEBpLpT5_6REmdsrPkSJPDyyQcByx&amp;signer=media-rpc&amp;x-canva-quality=screen_2x"/>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333051"/>
            <a:ext cx="7596183" cy="95726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1140" y="-152400"/>
            <a:ext cx="8681719" cy="717504"/>
          </a:xfrm>
          <a:prstGeom prst="rect">
            <a:avLst/>
          </a:prstGeom>
        </p:spPr>
        <p:txBody>
          <a:bodyPr vert="horz" wrap="square" lIns="0" tIns="283845" rIns="0" bIns="0" rtlCol="0">
            <a:spAutoFit/>
          </a:bodyPr>
          <a:lstStyle/>
          <a:p>
            <a:pPr marL="241300">
              <a:lnSpc>
                <a:spcPct val="100000"/>
              </a:lnSpc>
            </a:pPr>
            <a:r>
              <a:rPr sz="2800" u="none" spc="-5" dirty="0"/>
              <a:t>Contents</a:t>
            </a:r>
            <a:r>
              <a:rPr lang="en-IN" sz="2800" u="none" spc="-5" dirty="0"/>
              <a:t> :</a:t>
            </a:r>
            <a:endParaRPr sz="2800" u="none" dirty="0"/>
          </a:p>
        </p:txBody>
      </p:sp>
      <p:sp>
        <p:nvSpPr>
          <p:cNvPr id="4" name="object 3"/>
          <p:cNvSpPr txBox="1"/>
          <p:nvPr/>
        </p:nvSpPr>
        <p:spPr>
          <a:xfrm>
            <a:off x="495299" y="914400"/>
            <a:ext cx="8153400" cy="1846580"/>
          </a:xfrm>
          <a:prstGeom prst="rect">
            <a:avLst/>
          </a:prstGeom>
        </p:spPr>
        <p:txBody>
          <a:bodyPr vert="horz" wrap="square" lIns="0" tIns="0" rIns="0" bIns="0" rtlCol="0">
            <a:spAutoFit/>
          </a:bodyPr>
          <a:lstStyle/>
          <a:p>
            <a:pPr marL="12700">
              <a:lnSpc>
                <a:spcPct val="100000"/>
              </a:lnSpc>
              <a:tabLst>
                <a:tab pos="512445" algn="l"/>
              </a:tabLst>
            </a:pPr>
            <a:r>
              <a:rPr lang="en-IN" sz="2000" dirty="0" err="1">
                <a:solidFill>
                  <a:srgbClr val="D24717"/>
                </a:solidFill>
                <a:latin typeface="Times New Roman" panose="02020603050405020304"/>
                <a:cs typeface="Times New Roman" panose="02020603050405020304"/>
              </a:rPr>
              <a:t>i</a:t>
            </a:r>
            <a:r>
              <a:rPr lang="en-IN" sz="2000" dirty="0">
                <a:solidFill>
                  <a:srgbClr val="D24717"/>
                </a:solidFill>
                <a:latin typeface="Times New Roman" panose="02020603050405020304"/>
                <a:cs typeface="Times New Roman" panose="02020603050405020304"/>
              </a:rPr>
              <a:t>	</a:t>
            </a:r>
            <a:r>
              <a:rPr lang="en-IN" sz="2000" dirty="0">
                <a:solidFill>
                  <a:schemeClr val="tx1"/>
                </a:solidFill>
                <a:latin typeface="Times New Roman" panose="02020603050405020304"/>
                <a:cs typeface="Times New Roman" panose="02020603050405020304"/>
              </a:rPr>
              <a:t>Abstract</a:t>
            </a:r>
            <a:endParaRPr lang="en-IN" sz="2000" dirty="0">
              <a:solidFill>
                <a:srgbClr val="002060"/>
              </a:solidFill>
              <a:latin typeface="Times New Roman" panose="02020603050405020304"/>
              <a:cs typeface="Times New Roman" panose="02020603050405020304"/>
            </a:endParaRPr>
          </a:p>
          <a:p>
            <a:pPr marL="469265" indent="-456565">
              <a:lnSpc>
                <a:spcPct val="100000"/>
              </a:lnSpc>
              <a:spcBef>
                <a:spcPts val="600"/>
              </a:spcBef>
              <a:buClr>
                <a:srgbClr val="D24717"/>
              </a:buClr>
              <a:buSzPct val="85000"/>
              <a:buAutoNum type="arabicPeriod"/>
              <a:tabLst>
                <a:tab pos="469265" algn="l"/>
                <a:tab pos="469900" algn="l"/>
              </a:tabLst>
            </a:pPr>
            <a:r>
              <a:rPr lang="en-IN" sz="2000" dirty="0">
                <a:solidFill>
                  <a:schemeClr val="tx1"/>
                </a:solidFill>
                <a:latin typeface="Times New Roman" panose="02020603050405020304"/>
                <a:cs typeface="Times New Roman" panose="02020603050405020304"/>
              </a:rPr>
              <a:t>Introduction</a:t>
            </a:r>
          </a:p>
          <a:p>
            <a:pPr marL="469265" indent="-456565">
              <a:lnSpc>
                <a:spcPct val="100000"/>
              </a:lnSpc>
              <a:spcBef>
                <a:spcPts val="600"/>
              </a:spcBef>
              <a:buClr>
                <a:srgbClr val="D24717"/>
              </a:buClr>
              <a:buSzPct val="85000"/>
              <a:buAutoNum type="arabicPeriod"/>
              <a:tabLst>
                <a:tab pos="469265" algn="l"/>
                <a:tab pos="469900" algn="l"/>
              </a:tabLst>
            </a:pPr>
            <a:r>
              <a:rPr lang="en-IN" sz="2000" dirty="0"/>
              <a:t>System Analysis</a:t>
            </a:r>
            <a:endParaRPr lang="en-IN" sz="2000" spc="-5" dirty="0">
              <a:solidFill>
                <a:srgbClr val="002060"/>
              </a:solidFill>
              <a:latin typeface="Times New Roman" panose="02020603050405020304"/>
              <a:cs typeface="Times New Roman" panose="02020603050405020304"/>
            </a:endParaRPr>
          </a:p>
          <a:p>
            <a:pPr marL="469265" indent="-456565">
              <a:lnSpc>
                <a:spcPct val="100000"/>
              </a:lnSpc>
              <a:spcBef>
                <a:spcPts val="600"/>
              </a:spcBef>
              <a:buClr>
                <a:srgbClr val="D24717"/>
              </a:buClr>
              <a:buSzPct val="85000"/>
              <a:buAutoNum type="arabicPeriod"/>
              <a:tabLst>
                <a:tab pos="469265" algn="l"/>
                <a:tab pos="469900" algn="l"/>
              </a:tabLst>
            </a:pPr>
            <a:r>
              <a:rPr lang="en-IN" sz="2000" spc="-5" dirty="0">
                <a:solidFill>
                  <a:schemeClr val="tx1">
                    <a:lumMod val="95000"/>
                    <a:lumOff val="5000"/>
                  </a:schemeClr>
                </a:solidFill>
                <a:latin typeface="Times New Roman" panose="02020603050405020304"/>
                <a:cs typeface="Times New Roman" panose="02020603050405020304"/>
              </a:rPr>
              <a:t>Architectural Design</a:t>
            </a:r>
          </a:p>
          <a:p>
            <a:pPr marL="469265" indent="-456565">
              <a:lnSpc>
                <a:spcPct val="100000"/>
              </a:lnSpc>
              <a:spcBef>
                <a:spcPts val="600"/>
              </a:spcBef>
              <a:buClr>
                <a:srgbClr val="D24717"/>
              </a:buClr>
              <a:buSzPct val="85000"/>
              <a:buAutoNum type="arabicPeriod"/>
              <a:tabLst>
                <a:tab pos="469265" algn="l"/>
                <a:tab pos="469900" algn="l"/>
              </a:tabLst>
            </a:pPr>
            <a:r>
              <a:rPr lang="en-IN" sz="2000" spc="-5" dirty="0">
                <a:solidFill>
                  <a:schemeClr val="tx1">
                    <a:lumMod val="95000"/>
                    <a:lumOff val="5000"/>
                  </a:schemeClr>
                </a:solidFill>
                <a:latin typeface="Times New Roman" panose="02020603050405020304"/>
                <a:cs typeface="Times New Roman" panose="02020603050405020304"/>
              </a:rPr>
              <a:t>Implementation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381000"/>
            <a:ext cx="8681719" cy="369332"/>
          </a:xfrm>
        </p:spPr>
        <p:txBody>
          <a:bodyPr/>
          <a:lstStyle/>
          <a:p>
            <a:r>
              <a:rPr lang="en-IN" sz="2400" u="none" spc="-5" dirty="0" err="1"/>
              <a:t>i</a:t>
            </a:r>
            <a:r>
              <a:rPr lang="en-IN" sz="2400" u="none" spc="-5" dirty="0"/>
              <a:t>. </a:t>
            </a:r>
            <a:r>
              <a:rPr lang="en-IN" sz="2400" u="sng" spc="-5" dirty="0"/>
              <a:t>Abstract:</a:t>
            </a:r>
            <a:endParaRPr lang="en-IN" u="sng" dirty="0"/>
          </a:p>
        </p:txBody>
      </p:sp>
      <p:sp>
        <p:nvSpPr>
          <p:cNvPr id="3" name="Text Placeholder 2"/>
          <p:cNvSpPr>
            <a:spLocks noGrp="1"/>
          </p:cNvSpPr>
          <p:nvPr>
            <p:ph type="body" idx="1"/>
          </p:nvPr>
        </p:nvSpPr>
        <p:spPr>
          <a:xfrm>
            <a:off x="533400" y="1295400"/>
            <a:ext cx="7590790" cy="4431983"/>
          </a:xfrm>
        </p:spPr>
        <p:txBody>
          <a:bodyPr wrap="square"/>
          <a:lstStyle/>
          <a:p>
            <a:pPr algn="just"/>
            <a:r>
              <a:rPr lang="en-IN" sz="1800" dirty="0"/>
              <a:t>Scrum meetings are very important in software development, but many teams do not maintain proper written records of what was discussed, decided, and assigned. Because of this, team members sometimes forget their responsibilities or deny previous commitments, which creates confusion and affects productivity. In this project, we have developed a web-based application that helps generate clear Scrum meeting documentation from recorded audio. The system converts the meeting audio to text, allows users to easily mark key sentences as action items or decisions, and stores them along with speaker names and timestamps. It also provides a simple interface to search within the transcript and download the final minutes as a PDF. This tool aims to improve transparency, accountability, and follow-up in Scrum-based teams while keeping the workflow easy to use for students and professionals.</a:t>
            </a:r>
            <a:endParaRPr lang="en-US" sz="1800" dirty="0"/>
          </a:p>
          <a:p>
            <a:pPr algn="just"/>
            <a:r>
              <a:rPr lang="en-IN" sz="1800" dirty="0"/>
              <a:t>	This project proposes an AI-assisted web application that automatically generates structured Scrum meeting minutes from recorded audio. The system converts meeting audio into text, allows users to tag key sentences as action items and decisions, and stores these along with speaker names and timestamps.</a:t>
            </a:r>
            <a:endParaRPr lang="en-US" alt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4"/>
          </p:nvPr>
        </p:nvSpPr>
        <p:spPr>
          <a:xfrm>
            <a:off x="228848" y="-76200"/>
            <a:ext cx="8641962" cy="9079409"/>
          </a:xfrm>
        </p:spPr>
        <p:txBody>
          <a:bodyPr/>
          <a:lstStyle/>
          <a:p>
            <a:pPr algn="just"/>
            <a:endParaRPr lang="en-US" b="1" dirty="0"/>
          </a:p>
          <a:p>
            <a:pPr algn="just"/>
            <a:r>
              <a:rPr lang="en-IN" sz="2400" b="1" spc="-10" dirty="0">
                <a:solidFill>
                  <a:schemeClr val="accent2"/>
                </a:solidFill>
              </a:rPr>
              <a:t>1.Introduction: </a:t>
            </a:r>
            <a:r>
              <a:rPr lang="en-US" b="1" dirty="0">
                <a:solidFill>
                  <a:schemeClr val="accent2"/>
                </a:solidFill>
              </a:rPr>
              <a:t> </a:t>
            </a:r>
          </a:p>
          <a:p>
            <a:pPr algn="just"/>
            <a:r>
              <a:rPr lang="en-US" b="1" dirty="0"/>
              <a:t>1.1 Problem Definition &amp; Description: </a:t>
            </a:r>
          </a:p>
          <a:p>
            <a:pPr algn="just"/>
            <a:r>
              <a:rPr lang="en-US" sz="1800" dirty="0"/>
              <a:t>	In Scrum-based software development, meetings such as sprint planning, reviews, and discussions play a crucial role in gathering client requirements and making project decisions. However, these meetings are primarily conducted verbally and often lack proper documentation, leading to missed requirements, misunderstandings, and poor accountability among team members. Manual note-taking is time-consuming, inconsistent, and ineffective when multiple participants are involved. Existing meeting tools focus mainly on communication and do not provide intelligent analysis or structured documentation of Scrum discussions. As a result, Scrum Masters and development teams struggle to track what was discussed, what decisions were made, and how actively participants contributed. There is a clear need for an automated system that can capture Scrum meeting discussions, convert speech into structured text with speaker identification and timestamps, extract product backlog items from client inputs, generate concise meeting summaries, and analyze individual participation to improve transparency, efficiency, and accountability in Scrum teams.</a:t>
            </a:r>
            <a:endParaRPr lang="en-US" altLang="en-US" sz="1800" dirty="0"/>
          </a:p>
          <a:p>
            <a:pPr algn="just"/>
            <a:r>
              <a:rPr lang="en-US" b="1" dirty="0"/>
              <a:t>1.2 Objective of the Project:</a:t>
            </a:r>
            <a:r>
              <a:rPr lang="en-US" dirty="0"/>
              <a:t> </a:t>
            </a:r>
          </a:p>
          <a:p>
            <a:pPr algn="just"/>
            <a:r>
              <a:rPr lang="en-US" sz="1800" dirty="0"/>
              <a:t>	The objective of this project is to develop a web-based system that automates the documentation and analysis of Scrum meetings by converting spoken discussions into structured text with speaker identification and timestamps. The system aims to generate concise meeting summaries, extract client-defined product backlog items, analyze discussion topics, and measure individual participation through speaking percentage. By providing organized Scrum meeting minutes and analytics, the project seeks to improve transparency, accountability, and efficiency in Scrum-based software development teams.</a:t>
            </a:r>
            <a:endParaRPr lang="en-US" altLang="en-US" sz="1800" dirty="0"/>
          </a:p>
          <a:p>
            <a:pPr algn="just"/>
            <a:endParaRPr lang="en-US" altLang="en-US" sz="1800" dirty="0"/>
          </a:p>
          <a:p>
            <a:pPr algn="just"/>
            <a:endParaRPr lang="en-US" altLang="en-US" sz="1800" dirty="0"/>
          </a:p>
          <a:p>
            <a:pPr algn="just"/>
            <a:endParaRPr lang="en-US" altLang="en-US" sz="1800" dirty="0"/>
          </a:p>
          <a:p>
            <a:pPr algn="just"/>
            <a:endParaRPr lang="en-US" altLang="en-US" sz="1800" dirty="0"/>
          </a:p>
          <a:p>
            <a:pPr algn="just"/>
            <a:endParaRPr lang="en-US" altLang="en-US" sz="1800" dirty="0"/>
          </a:p>
          <a:p>
            <a:pPr algn="just"/>
            <a:endParaRPr lang="en-US" altLang="en-US" sz="1800" dirty="0"/>
          </a:p>
          <a:p>
            <a:pPr algn="just"/>
            <a:endParaRPr lang="en-US" alt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2400" y="76200"/>
            <a:ext cx="8839199" cy="6152325"/>
          </a:xfrm>
        </p:spPr>
        <p:txBody>
          <a:bodyPr/>
          <a:lstStyle/>
          <a:p>
            <a:pPr algn="just"/>
            <a:r>
              <a:rPr lang="en-IN" sz="1800" dirty="0">
                <a:solidFill>
                  <a:srgbClr val="000000"/>
                </a:solidFill>
                <a:effectLst/>
                <a:latin typeface="Times New Roman" panose="02020603050405020304" pitchFamily="18" charset="0"/>
                <a:ea typeface="Times New Roman" panose="02020603050405020304" pitchFamily="18" charset="0"/>
              </a:rPr>
              <a:t> </a:t>
            </a:r>
            <a:r>
              <a:rPr lang="en-US" b="1" dirty="0"/>
              <a:t>1.3 Scope of the Project:</a:t>
            </a:r>
          </a:p>
          <a:p>
            <a:pPr algn="just"/>
            <a:endParaRPr lang="en-US" b="1" dirty="0"/>
          </a:p>
          <a:p>
            <a:pPr algn="just"/>
            <a:endParaRPr lang="en-US" b="1" dirty="0"/>
          </a:p>
          <a:p>
            <a:pPr algn="just"/>
            <a:endParaRPr lang="en-US" b="1" dirty="0"/>
          </a:p>
          <a:p>
            <a:pPr algn="just"/>
            <a:endParaRPr lang="en-US" b="1" dirty="0"/>
          </a:p>
          <a:p>
            <a:pPr algn="just"/>
            <a:endParaRPr lang="en-US" b="1" dirty="0"/>
          </a:p>
          <a:p>
            <a:pPr algn="just"/>
            <a:endParaRPr lang="en-US" b="1" dirty="0"/>
          </a:p>
          <a:p>
            <a:pPr algn="just"/>
            <a:endParaRPr lang="en-US" b="1" dirty="0"/>
          </a:p>
          <a:p>
            <a:pPr algn="just"/>
            <a:endParaRPr lang="en-US" b="1" dirty="0"/>
          </a:p>
          <a:p>
            <a:pPr algn="just"/>
            <a:endParaRPr lang="en-US" b="1" dirty="0"/>
          </a:p>
          <a:p>
            <a:pPr marL="30480" marR="81915" indent="-6350" algn="just">
              <a:lnSpc>
                <a:spcPct val="111000"/>
              </a:lnSpc>
              <a:spcAft>
                <a:spcPts val="1325"/>
              </a:spcAft>
            </a:pPr>
            <a:r>
              <a:rPr lang="en-US" sz="1800" dirty="0"/>
              <a:t>The scope of this project is limited to the development of a web-based application that supports Scrum meeting documentation for a small group of participants, specifically a client, developer, and Scrum Master. The system focuses on real-time speech-to-text conversion, storage of meeting transcripts with speaker identification and timestamps, extraction of product backlog items, generation of meeting summaries, and analysis of individual speaking participation. The project covers basic authentication, meeting management, transcript analysis, and report generation, while excluding advanced features such as real-time speaker diarization accuracy optimization, large-scale user management, video conferencing, and complex machine learning model training. The system is intended as a functional prototype suitable for academic and small-team use.</a:t>
            </a:r>
            <a:endParaRPr lang="en-US" altLang="en-US" sz="1800" dirty="0"/>
          </a:p>
        </p:txBody>
      </p:sp>
      <p:pic>
        <p:nvPicPr>
          <p:cNvPr id="2" name="Picture 1"/>
          <p:cNvPicPr/>
          <p:nvPr/>
        </p:nvPicPr>
        <p:blipFill>
          <a:blip r:embed="rId2"/>
          <a:stretch>
            <a:fillRect/>
          </a:stretch>
        </p:blipFill>
        <p:spPr>
          <a:xfrm>
            <a:off x="3886200" y="228600"/>
            <a:ext cx="5006975" cy="277749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1140" y="466403"/>
            <a:ext cx="8681719" cy="369332"/>
          </a:xfrm>
        </p:spPr>
        <p:txBody>
          <a:bodyPr/>
          <a:lstStyle/>
          <a:p>
            <a:r>
              <a:rPr lang="en-IN" u="sng" spc="-5" dirty="0"/>
              <a:t>2. </a:t>
            </a:r>
            <a:r>
              <a:rPr lang="en-IN" dirty="0"/>
              <a:t>System Analysis </a:t>
            </a:r>
          </a:p>
        </p:txBody>
      </p:sp>
      <p:sp>
        <p:nvSpPr>
          <p:cNvPr id="8" name="Rectangle 3"/>
          <p:cNvSpPr>
            <a:spLocks noChangeArrowheads="1"/>
          </p:cNvSpPr>
          <p:nvPr/>
        </p:nvSpPr>
        <p:spPr bwMode="auto">
          <a:xfrm>
            <a:off x="304799" y="1537543"/>
            <a:ext cx="8455660"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lvl="0" algn="just" eaLnBrk="0" fontAlgn="base" hangingPunct="0">
              <a:spcBef>
                <a:spcPct val="0"/>
              </a:spcBef>
              <a:spcAft>
                <a:spcPct val="0"/>
              </a:spcAft>
            </a:pPr>
            <a:r>
              <a:rPr lang="en-US" dirty="0">
                <a:solidFill>
                  <a:schemeClr val="tx2">
                    <a:lumMod val="75000"/>
                  </a:schemeClr>
                </a:solidFill>
                <a:latin typeface="Times New Roman" panose="02020603050405020304" pitchFamily="18" charset="0"/>
                <a:cs typeface="Times New Roman" panose="02020603050405020304" pitchFamily="18" charset="0"/>
              </a:rPr>
              <a:t>The proposed system is designed to analyze and automate the documentation of Scrum meetings by integrating web technologies and basic natural language processing techniques. The system allows authenticated users—Client, Developer, and Scrum Master—to participate in a common meeting environment where audio input is captured through the browser. The captured audio is converted into text using speech-to-text technology, and each spoken segment is tagged with the speaker’s identity and timestamp. The system processes this transcript data to perform multiple analyses, including summarization of meeting discussions, extraction of product backlog items based on client inputs, identification of discussion topics, and calculation of individual speaking percentages. Data persistence is handled through a backend server and database, ensuring structured storage and retrieval of meeting information. The system emphasizes accuracy, usability, and transparency while maintaining a simple and scalable architecture suitable for academic implementation and demonstration purposes.</a:t>
            </a:r>
            <a:endParaRPr kumimoji="0" lang="en-US" altLang="en-US" sz="1800" b="0" i="0" u="none" strike="noStrike" cap="none" normalizeH="0" baseline="0" dirty="0">
              <a:ln>
                <a:noFill/>
              </a:ln>
              <a:solidFill>
                <a:schemeClr val="tx2">
                  <a:lumMod val="75000"/>
                </a:schemeClr>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28600" y="76200"/>
            <a:ext cx="8763000" cy="7355860"/>
          </a:xfrm>
        </p:spPr>
        <p:txBody>
          <a:bodyPr/>
          <a:lstStyle/>
          <a:p>
            <a:pPr algn="just"/>
            <a:r>
              <a:rPr lang="en-US" b="1" dirty="0"/>
              <a:t>2.1 Existing System: </a:t>
            </a:r>
          </a:p>
          <a:p>
            <a:pPr algn="just"/>
            <a:r>
              <a:rPr lang="en-US" b="1" dirty="0"/>
              <a:t>2.1.1 Background &amp; Literature Survey:</a:t>
            </a:r>
          </a:p>
          <a:p>
            <a:pPr algn="just"/>
            <a:r>
              <a:rPr lang="en-US" sz="1800" dirty="0"/>
              <a:t>	Recent research and industry studies show a growing need for automated meeting intelligence systems due to the inefficiency of manual meeting documentation and backlog identification. Studies on </a:t>
            </a:r>
            <a:r>
              <a:rPr lang="en-US" sz="1800" b="1" dirty="0"/>
              <a:t>automatic meeting minutes generation</a:t>
            </a:r>
            <a:r>
              <a:rPr lang="en-US" sz="1800" dirty="0"/>
              <a:t> demonstrate that speech-to-text and NLP techniques can reliably convert discussions into structured summaries and action items. Research on </a:t>
            </a:r>
            <a:r>
              <a:rPr lang="en-US" sz="1800" b="1" dirty="0"/>
              <a:t>product backlogs in Scrum</a:t>
            </a:r>
            <a:r>
              <a:rPr lang="en-US" sz="1800" dirty="0"/>
              <a:t> confirms that identifying requirements directly from stakeholder conversations improves backlog clarity and reduces requirement gaps. Industry implementations, such as AI-powered Microsoft Teams summarizers using </a:t>
            </a:r>
            <a:r>
              <a:rPr lang="en-US" sz="1800" b="1" dirty="0"/>
              <a:t>transformer models and Named Entity Recognition (NER)</a:t>
            </a:r>
            <a:r>
              <a:rPr lang="en-US" sz="1800" dirty="0"/>
              <a:t>, validate the feasibility of extracting decisions, tasks, and keywords from live meetings. Academic works published in journals like IJRASET and institutional repositories further support the use of ASR, speaker diarization, and text summarization models for meeting analysis. Overall, the reviewed literature confirms that combining speech processing with NLP enables accurate meeting transcription, backlog extraction, speaker analysis, and summary generation, making the proposed system technically sound and suitable as a major academic project.</a:t>
            </a:r>
          </a:p>
          <a:p>
            <a:pPr algn="just"/>
            <a:endParaRPr lang="en-US" altLang="en-US" sz="1800" dirty="0"/>
          </a:p>
          <a:p>
            <a:pPr algn="just"/>
            <a:r>
              <a:rPr lang="en-US" b="1" dirty="0"/>
              <a:t>2.1.2 Limitations of Existing System:</a:t>
            </a:r>
          </a:p>
          <a:p>
            <a:pPr algn="just"/>
            <a:r>
              <a:rPr lang="en-US" sz="1800" dirty="0"/>
              <a:t>	Existing meeting systems mainly focus on communication and rely on manual note-taking for documentation, which is time-consuming and error-prone. They do not provide automated speech-to-text conversion with speaker identification, making it difficult to track discussions accurately. Additionally, these systems lack features for automatic meeting summaries, product backlog extraction, and participant analysis, resulting in poor traceability, accountability, and follow-up after Scrum meetings.</a:t>
            </a:r>
            <a:endParaRPr lang="en-US" altLang="en-US" sz="1800" dirty="0"/>
          </a:p>
          <a:p>
            <a:pPr algn="just"/>
            <a:endParaRPr lang="en-IN" dirty="0"/>
          </a:p>
          <a:p>
            <a:pPr algn="just"/>
            <a:endParaRPr lang="en-I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04800" y="457200"/>
            <a:ext cx="8531860" cy="4308872"/>
          </a:xfrm>
        </p:spPr>
        <p:txBody>
          <a:bodyPr/>
          <a:lstStyle/>
          <a:p>
            <a:pPr algn="just"/>
            <a:r>
              <a:rPr lang="en-US" b="1" dirty="0"/>
              <a:t>2.2 Proposed System:</a:t>
            </a:r>
          </a:p>
          <a:p>
            <a:r>
              <a:rPr lang="en-US" dirty="0"/>
              <a:t>	</a:t>
            </a:r>
          </a:p>
          <a:p>
            <a:pPr algn="just"/>
            <a:r>
              <a:rPr lang="en-US" dirty="0"/>
              <a:t>	The proposed system is a web-based application that automates the documentation and analysis of Scrum meetings by converting spoken discussions into structured text with speaker identification and timestamps. It enables multiple participants to join a common meeting room and captures real-time speech using browser-based speech-to-text technology. The system analyzes the generated transcripts to produce concise meeting summaries, extract client-defined product backlog items, identify discussion topics, and calculate individual speaking percentages. All meeting information is securely stored and compiled into structured Scrum meeting minutes, which can be viewed or downloaded for future reference. The proposed system improves transparency, accountability, and efficiency in Scrum-based software development teams by eliminating manual documentation.</a:t>
            </a:r>
          </a:p>
        </p:txBody>
      </p:sp>
    </p:spTree>
    <p:extLst>
      <p:ext uri="{BB962C8B-B14F-4D97-AF65-F5344CB8AC3E}">
        <p14:creationId xmlns:p14="http://schemas.microsoft.com/office/powerpoint/2010/main" val="6816615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28600" y="381000"/>
            <a:ext cx="8531860" cy="6463308"/>
          </a:xfrm>
        </p:spPr>
        <p:txBody>
          <a:bodyPr/>
          <a:lstStyle/>
          <a:p>
            <a:r>
              <a:rPr lang="en-US" b="1" dirty="0"/>
              <a:t>Literature Survey Links:</a:t>
            </a:r>
          </a:p>
          <a:p>
            <a:endParaRPr lang="en-US" b="1" dirty="0"/>
          </a:p>
          <a:p>
            <a:r>
              <a:rPr lang="en-US" b="1" dirty="0"/>
              <a:t>1</a:t>
            </a:r>
            <a:r>
              <a:rPr lang="en-US" dirty="0"/>
              <a:t>) https://medium.com/%40donchominkov/transforming-meetings-and-docs-with-ai-speech-to-text-6ede267abd5b</a:t>
            </a:r>
          </a:p>
          <a:p>
            <a:r>
              <a:rPr lang="en-US" b="1" dirty="0">
                <a:solidFill>
                  <a:schemeClr val="tx2">
                    <a:lumMod val="75000"/>
                  </a:schemeClr>
                </a:solidFill>
              </a:rPr>
              <a:t>2</a:t>
            </a:r>
            <a:r>
              <a:rPr lang="en-US" dirty="0">
                <a:solidFill>
                  <a:schemeClr val="tx2">
                    <a:lumMod val="75000"/>
                  </a:schemeClr>
                </a:solidFill>
              </a:rPr>
              <a:t>) https://www.sciencedirect.com/science/article/pii/S0950584924002490</a:t>
            </a:r>
          </a:p>
          <a:p>
            <a:r>
              <a:rPr lang="en-US" b="1" dirty="0">
                <a:solidFill>
                  <a:schemeClr val="tx2">
                    <a:lumMod val="75000"/>
                  </a:schemeClr>
                </a:solidFill>
              </a:rPr>
              <a:t>3) </a:t>
            </a:r>
            <a:r>
              <a:rPr lang="en-US" dirty="0">
                <a:solidFill>
                  <a:schemeClr val="tx2">
                    <a:lumMod val="75000"/>
                  </a:schemeClr>
                </a:solidFill>
              </a:rPr>
              <a:t>https://medium.com/%40riyaelizabet/building-an-ai-powered-microsoft-teams-meeting-summarizer-transformers-ner-azure-b6e6f4fbb819</a:t>
            </a:r>
          </a:p>
          <a:p>
            <a:r>
              <a:rPr lang="en-US" dirty="0">
                <a:solidFill>
                  <a:schemeClr val="tx2">
                    <a:lumMod val="75000"/>
                  </a:schemeClr>
                </a:solidFill>
              </a:rPr>
              <a:t>4)https://www.ijraset.com/research-paper/automatic-meeting-minutes-generation</a:t>
            </a:r>
          </a:p>
          <a:p>
            <a:r>
              <a:rPr lang="en-US" dirty="0">
                <a:solidFill>
                  <a:schemeClr val="tx2">
                    <a:lumMod val="75000"/>
                  </a:schemeClr>
                </a:solidFill>
              </a:rPr>
              <a:t>5) </a:t>
            </a:r>
            <a:r>
              <a:rPr lang="en-US" dirty="0">
                <a:solidFill>
                  <a:schemeClr val="tx2">
                    <a:lumMod val="75000"/>
                  </a:schemeClr>
                </a:solidFill>
                <a:hlinkClick r:id="rId2"/>
              </a:rPr>
              <a:t>https://www.itm-conferences.org/articles/itmconf/pdf/2022/04/itmconf_icacc2022_03063.pdf</a:t>
            </a:r>
            <a:endParaRPr lang="en-US" dirty="0">
              <a:solidFill>
                <a:schemeClr val="tx2">
                  <a:lumMod val="75000"/>
                </a:schemeClr>
              </a:solidFill>
            </a:endParaRPr>
          </a:p>
          <a:p>
            <a:r>
              <a:rPr lang="en-US" dirty="0">
                <a:solidFill>
                  <a:schemeClr val="tx2">
                    <a:lumMod val="75000"/>
                  </a:schemeClr>
                </a:solidFill>
              </a:rPr>
              <a:t>6) </a:t>
            </a:r>
            <a:r>
              <a:rPr lang="en-US" dirty="0">
                <a:solidFill>
                  <a:schemeClr val="tx2">
                    <a:lumMod val="75000"/>
                  </a:schemeClr>
                </a:solidFill>
                <a:hlinkClick r:id="rId3"/>
              </a:rPr>
              <a:t>https://www.researchgate.net/publication/360456552_Automatic_Generation_of_Minutes_of_Meetings</a:t>
            </a:r>
            <a:endParaRPr lang="en-US" dirty="0">
              <a:solidFill>
                <a:schemeClr val="tx2">
                  <a:lumMod val="75000"/>
                </a:schemeClr>
              </a:solidFill>
            </a:endParaRPr>
          </a:p>
          <a:p>
            <a:r>
              <a:rPr lang="en-US" dirty="0">
                <a:solidFill>
                  <a:schemeClr val="tx2">
                    <a:lumMod val="75000"/>
                  </a:schemeClr>
                </a:solidFill>
              </a:rPr>
              <a:t>7) </a:t>
            </a:r>
            <a:r>
              <a:rPr lang="en-US" dirty="0">
                <a:solidFill>
                  <a:schemeClr val="tx2">
                    <a:lumMod val="75000"/>
                  </a:schemeClr>
                </a:solidFill>
                <a:hlinkClick r:id="rId4"/>
              </a:rPr>
              <a:t>https://papers.ssrn.com/sol3/papers.cfm?abstract_id=5319091</a:t>
            </a:r>
            <a:endParaRPr lang="en-US" dirty="0">
              <a:solidFill>
                <a:schemeClr val="tx2">
                  <a:lumMod val="75000"/>
                </a:schemeClr>
              </a:solidFill>
            </a:endParaRPr>
          </a:p>
          <a:p>
            <a:r>
              <a:rPr lang="en-US" dirty="0">
                <a:solidFill>
                  <a:schemeClr val="tx2">
                    <a:lumMod val="75000"/>
                  </a:schemeClr>
                </a:solidFill>
              </a:rPr>
              <a:t>8) </a:t>
            </a:r>
            <a:r>
              <a:rPr lang="en-US" dirty="0">
                <a:solidFill>
                  <a:schemeClr val="tx2">
                    <a:lumMod val="75000"/>
                  </a:schemeClr>
                </a:solidFill>
                <a:hlinkClick r:id="rId5"/>
              </a:rPr>
              <a:t>https://dl.acm.org/doi/10.1145/3633598.3633600</a:t>
            </a:r>
            <a:endParaRPr lang="en-US" dirty="0">
              <a:solidFill>
                <a:schemeClr val="tx2">
                  <a:lumMod val="75000"/>
                </a:schemeClr>
              </a:solidFill>
            </a:endParaRPr>
          </a:p>
          <a:p>
            <a:r>
              <a:rPr lang="en-US" dirty="0">
                <a:solidFill>
                  <a:schemeClr val="tx2">
                    <a:lumMod val="75000"/>
                  </a:schemeClr>
                </a:solidFill>
              </a:rPr>
              <a:t>9) </a:t>
            </a:r>
            <a:r>
              <a:rPr lang="en-US" dirty="0">
                <a:solidFill>
                  <a:schemeClr val="tx2">
                    <a:lumMod val="75000"/>
                  </a:schemeClr>
                </a:solidFill>
                <a:hlinkClick r:id="rId6"/>
              </a:rPr>
              <a:t>https://www.researchgate.net/publication/220655948_Speaker_Diarization_A_Review_of_Recent_Research</a:t>
            </a:r>
            <a:endParaRPr lang="en-US" dirty="0">
              <a:solidFill>
                <a:schemeClr val="tx2">
                  <a:lumMod val="75000"/>
                </a:schemeClr>
              </a:solidFill>
            </a:endParaRPr>
          </a:p>
          <a:p>
            <a:r>
              <a:rPr lang="en-US" dirty="0">
                <a:solidFill>
                  <a:schemeClr val="tx2">
                    <a:lumMod val="75000"/>
                  </a:schemeClr>
                </a:solidFill>
              </a:rPr>
              <a:t>10) https://rjpn.org/ijcspub/papers/IJCSP23B1312.pdf</a:t>
            </a:r>
          </a:p>
          <a:p>
            <a:endParaRPr lang="en-US" dirty="0">
              <a:solidFill>
                <a:schemeClr val="tx2">
                  <a:lumMod val="75000"/>
                </a:schemeClr>
              </a:solidFill>
            </a:endParaRPr>
          </a:p>
          <a:p>
            <a:endParaRPr lang="en-US" dirty="0"/>
          </a:p>
        </p:txBody>
      </p:sp>
    </p:spTree>
    <p:extLst>
      <p:ext uri="{BB962C8B-B14F-4D97-AF65-F5344CB8AC3E}">
        <p14:creationId xmlns:p14="http://schemas.microsoft.com/office/powerpoint/2010/main" val="18057006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28600" y="304800"/>
            <a:ext cx="8686800" cy="7666714"/>
          </a:xfrm>
        </p:spPr>
        <p:txBody>
          <a:bodyPr/>
          <a:lstStyle/>
          <a:p>
            <a:pPr algn="just"/>
            <a:r>
              <a:rPr lang="en-US" sz="1800" b="1" dirty="0"/>
              <a:t>2.3 Software &amp; Hardware Requirements:</a:t>
            </a:r>
          </a:p>
          <a:p>
            <a:pPr algn="just"/>
            <a:r>
              <a:rPr lang="en-US" sz="1800" b="1" dirty="0"/>
              <a:t>2.3.1 Software Requirements:</a:t>
            </a:r>
          </a:p>
          <a:p>
            <a:pPr lvl="1">
              <a:buFont typeface="Arial" panose="020B0604020202020204" pitchFamily="34" charset="0"/>
              <a:buChar char="•"/>
            </a:pPr>
            <a:r>
              <a:rPr lang="en-US" sz="1800" b="0" i="0" dirty="0">
                <a:solidFill>
                  <a:srgbClr val="000000"/>
                </a:solidFill>
                <a:effectLst/>
                <a:latin typeface="Times New Roman" panose="02020603050405020304" pitchFamily="18" charset="0"/>
                <a:cs typeface="Times New Roman" panose="02020603050405020304" pitchFamily="18" charset="0"/>
              </a:rPr>
              <a:t>Windows </a:t>
            </a:r>
            <a:endParaRPr lang="en-US" sz="1800" dirty="0">
              <a:latin typeface="Times New Roman" panose="02020603050405020304" pitchFamily="18" charset="0"/>
              <a:cs typeface="Times New Roman" panose="02020603050405020304" pitchFamily="18" charset="0"/>
            </a:endParaRPr>
          </a:p>
          <a:p>
            <a:pPr lvl="1">
              <a:buFont typeface="Arial" panose="020B0604020202020204" pitchFamily="34" charset="0"/>
              <a:buChar char="•"/>
            </a:pPr>
            <a:r>
              <a:rPr lang="en-US" sz="1800" b="0" i="0" dirty="0">
                <a:solidFill>
                  <a:srgbClr val="000000"/>
                </a:solidFill>
                <a:effectLst/>
                <a:latin typeface="Times New Roman" panose="02020603050405020304" pitchFamily="18" charset="0"/>
                <a:cs typeface="Times New Roman" panose="02020603050405020304" pitchFamily="18" charset="0"/>
              </a:rPr>
              <a:t>Mobile application</a:t>
            </a:r>
            <a:endParaRPr lang="en-US" sz="1800" dirty="0">
              <a:latin typeface="Times New Roman" panose="02020603050405020304" pitchFamily="18" charset="0"/>
              <a:cs typeface="Times New Roman" panose="02020603050405020304" pitchFamily="18" charset="0"/>
            </a:endParaRPr>
          </a:p>
          <a:p>
            <a:pPr lvl="1">
              <a:buFont typeface="Arial" panose="020B0604020202020204" pitchFamily="34" charset="0"/>
              <a:buChar char="•"/>
            </a:pPr>
            <a:r>
              <a:rPr lang="en-US" sz="1800" b="0" i="0" dirty="0">
                <a:solidFill>
                  <a:srgbClr val="000000"/>
                </a:solidFill>
                <a:effectLst/>
                <a:latin typeface="Times New Roman" panose="02020603050405020304" pitchFamily="18" charset="0"/>
                <a:cs typeface="Times New Roman" panose="02020603050405020304" pitchFamily="18" charset="0"/>
              </a:rPr>
              <a:t>Internet Access</a:t>
            </a:r>
            <a:endParaRPr lang="en-US" sz="1800" dirty="0">
              <a:latin typeface="Times New Roman" panose="02020603050405020304" pitchFamily="18" charset="0"/>
              <a:cs typeface="Times New Roman" panose="02020603050405020304" pitchFamily="18" charset="0"/>
            </a:endParaRPr>
          </a:p>
          <a:p>
            <a:pPr lvl="1" algn="just"/>
            <a:endParaRPr lang="en-US" sz="1620" dirty="0"/>
          </a:p>
          <a:p>
            <a:pPr algn="just"/>
            <a:r>
              <a:rPr lang="en-US" sz="1800" b="1" dirty="0"/>
              <a:t>2.3.2 Hardware Requirements:</a:t>
            </a:r>
            <a:endParaRPr lang="en-IN" sz="1600" dirty="0">
              <a:solidFill>
                <a:srgbClr val="000000"/>
              </a:solidFill>
              <a:effectLst/>
              <a:latin typeface="YAD1aLikJo8 0"/>
            </a:endParaRPr>
          </a:p>
          <a:p>
            <a:pPr lvl="1">
              <a:buFont typeface="Arial" panose="020B0604020202020204" pitchFamily="34" charset="0"/>
              <a:buChar char="•"/>
            </a:pPr>
            <a:r>
              <a:rPr lang="en-IN" sz="1800" b="0" i="0" dirty="0">
                <a:solidFill>
                  <a:srgbClr val="000000"/>
                </a:solidFill>
                <a:effectLst/>
                <a:latin typeface="Times New Roman" panose="02020603050405020304" pitchFamily="18" charset="0"/>
                <a:cs typeface="Times New Roman" panose="02020603050405020304" pitchFamily="18" charset="0"/>
              </a:rPr>
              <a:t>Supports PC / Laptop / Mobile</a:t>
            </a:r>
            <a:endParaRPr lang="en-IN" sz="1800" dirty="0">
              <a:latin typeface="Times New Roman" panose="02020603050405020304" pitchFamily="18" charset="0"/>
              <a:cs typeface="Times New Roman" panose="02020603050405020304" pitchFamily="18" charset="0"/>
            </a:endParaRPr>
          </a:p>
          <a:p>
            <a:pPr lvl="1">
              <a:buFont typeface="Arial" panose="020B0604020202020204" pitchFamily="34" charset="0"/>
              <a:buChar char="•"/>
            </a:pPr>
            <a:r>
              <a:rPr lang="en-IN" sz="1800" b="0" i="0" dirty="0">
                <a:solidFill>
                  <a:srgbClr val="000000"/>
                </a:solidFill>
                <a:effectLst/>
                <a:latin typeface="Times New Roman" panose="02020603050405020304" pitchFamily="18" charset="0"/>
                <a:cs typeface="Times New Roman" panose="02020603050405020304" pitchFamily="18" charset="0"/>
              </a:rPr>
              <a:t>Minimum 2 GB of RAM for smooth experience</a:t>
            </a:r>
            <a:endParaRPr lang="en-IN" sz="1800" dirty="0">
              <a:latin typeface="Times New Roman" panose="02020603050405020304" pitchFamily="18" charset="0"/>
              <a:cs typeface="Times New Roman" panose="02020603050405020304" pitchFamily="18" charset="0"/>
            </a:endParaRPr>
          </a:p>
          <a:p>
            <a:pPr lvl="1">
              <a:buFont typeface="Arial" panose="020B0604020202020204" pitchFamily="34" charset="0"/>
              <a:buChar char="•"/>
            </a:pPr>
            <a:r>
              <a:rPr lang="en-IN" sz="1800" b="0" i="0" dirty="0">
                <a:solidFill>
                  <a:srgbClr val="000000"/>
                </a:solidFill>
                <a:effectLst/>
                <a:latin typeface="Times New Roman" panose="02020603050405020304" pitchFamily="18" charset="0"/>
                <a:cs typeface="Times New Roman" panose="02020603050405020304" pitchFamily="18" charset="0"/>
              </a:rPr>
              <a:t>Network Connectivity</a:t>
            </a:r>
          </a:p>
          <a:p>
            <a:pPr lvl="1">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Web tech configurations</a:t>
            </a:r>
          </a:p>
          <a:p>
            <a:pPr lvl="1">
              <a:buFont typeface="Arial" panose="020B0604020202020204" pitchFamily="34" charset="0"/>
              <a:buChar char="•"/>
            </a:pPr>
            <a:endParaRPr lang="en-IN" sz="1800" dirty="0">
              <a:latin typeface="Times New Roman" panose="02020603050405020304" pitchFamily="18" charset="0"/>
              <a:cs typeface="Times New Roman" panose="02020603050405020304" pitchFamily="18" charset="0"/>
            </a:endParaRPr>
          </a:p>
          <a:p>
            <a:pPr algn="just"/>
            <a:r>
              <a:rPr lang="en-US" sz="1800" b="1" dirty="0">
                <a:solidFill>
                  <a:srgbClr val="002060"/>
                </a:solidFill>
              </a:rPr>
              <a:t>2.4 Feasibility Study:</a:t>
            </a:r>
          </a:p>
          <a:p>
            <a:pPr algn="just"/>
            <a:r>
              <a:rPr lang="en-US" sz="1800" b="1" dirty="0">
                <a:solidFill>
                  <a:srgbClr val="002060"/>
                </a:solidFill>
              </a:rPr>
              <a:t>2.4.1 Technical Feasibility: </a:t>
            </a:r>
          </a:p>
          <a:p>
            <a:pPr algn="just"/>
            <a:r>
              <a:rPr lang="en-US" sz="1800" dirty="0"/>
              <a:t>	</a:t>
            </a:r>
          </a:p>
          <a:p>
            <a:pPr algn="just"/>
            <a:r>
              <a:rPr lang="en-US" sz="1800" dirty="0"/>
              <a:t>	The proposed system is technically feasible as it is built using reliable and widely adopted hardware, software, and development tools. The technologies required for implementation are easily available, cost-effective, and compatible with existing systems. The development can be carried out using standard programming languages and platforms, ensuring ease of integration, testing, and maintenance. Additionally, the system does not require highly specialized technical expertise, reducing implementation risks and making future upgrades and scalability manageable.</a:t>
            </a:r>
            <a:endParaRPr lang="en-US" altLang="en-US" sz="1800" dirty="0"/>
          </a:p>
          <a:p>
            <a:pPr algn="just"/>
            <a:endParaRPr lang="en-US" altLang="en-US" sz="1800" dirty="0"/>
          </a:p>
          <a:p>
            <a:pPr algn="just"/>
            <a:endParaRPr lang="en-US" altLang="en-US" sz="1800" dirty="0"/>
          </a:p>
          <a:p>
            <a:pPr algn="just"/>
            <a:endParaRPr lang="en-US" altLang="en-US" sz="1800" dirty="0"/>
          </a:p>
          <a:p>
            <a:pPr algn="just"/>
            <a:endParaRPr lang="en-US" altLang="en-US" sz="1800" dirty="0"/>
          </a:p>
          <a:p>
            <a:pPr algn="just"/>
            <a:endParaRPr lang="en-US" altLang="en-US" sz="1800" dirty="0"/>
          </a:p>
          <a:p>
            <a:pPr algn="just"/>
            <a:endParaRPr lang="en-US" alt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28600" y="152400"/>
            <a:ext cx="8563254" cy="6155531"/>
          </a:xfrm>
        </p:spPr>
        <p:txBody>
          <a:bodyPr/>
          <a:lstStyle/>
          <a:p>
            <a:pPr algn="just"/>
            <a:r>
              <a:rPr lang="en-US" sz="2000" b="1" dirty="0">
                <a:solidFill>
                  <a:srgbClr val="002060"/>
                </a:solidFill>
              </a:rPr>
              <a:t>2.4.2 Robustness &amp; Reliability: </a:t>
            </a:r>
          </a:p>
          <a:p>
            <a:pPr algn="just"/>
            <a:endParaRPr lang="en-US" sz="1800" dirty="0"/>
          </a:p>
          <a:p>
            <a:pPr algn="just"/>
            <a:r>
              <a:rPr lang="en-US" sz="1800" dirty="0"/>
              <a:t>	The proposed system is designed to operate reliably under varying conditions and workloads. It incorporates error-handling mechanisms, validation checks, and fallback processes to ensure consistent performance even in the presence of incomplete or noisy data. The use of proven algorithms and stable platforms enhances system robustness, while modular design allows individual components to function independently without affecting the overall system. Regular monitoring, logging, and testing further improve reliability, ensuring accurate outputs, minimal downtime, and dependable operation over extended periods.</a:t>
            </a:r>
          </a:p>
          <a:p>
            <a:pPr algn="just"/>
            <a:endParaRPr lang="en-US" sz="1800" dirty="0">
              <a:solidFill>
                <a:srgbClr val="000000"/>
              </a:solidFill>
              <a:latin typeface="Times New Roman" panose="02020603050405020304" pitchFamily="18" charset="0"/>
              <a:ea typeface="Times New Roman" panose="02020603050405020304" pitchFamily="18" charset="0"/>
            </a:endParaRPr>
          </a:p>
          <a:p>
            <a:pPr algn="just"/>
            <a:endParaRPr lang="en-IN" sz="1800" dirty="0">
              <a:solidFill>
                <a:srgbClr val="000000"/>
              </a:solidFill>
              <a:latin typeface="Times New Roman" panose="02020603050405020304" pitchFamily="18" charset="0"/>
              <a:ea typeface="Times New Roman" panose="02020603050405020304" pitchFamily="18" charset="0"/>
            </a:endParaRPr>
          </a:p>
          <a:p>
            <a:pPr algn="just"/>
            <a:r>
              <a:rPr lang="en-US" sz="1800" b="1" dirty="0">
                <a:solidFill>
                  <a:srgbClr val="002060"/>
                </a:solidFill>
              </a:rPr>
              <a:t>2.4.3 Economic Feasibility: </a:t>
            </a:r>
          </a:p>
          <a:p>
            <a:pPr algn="just"/>
            <a:endParaRPr lang="en-US" sz="1800" dirty="0"/>
          </a:p>
          <a:p>
            <a:pPr algn="just"/>
            <a:r>
              <a:rPr lang="en-US" sz="1800" dirty="0"/>
              <a:t>	The project is economically feasible as it leverages cost-effective technologies and open-source tools, reducing development and licensing expenses. Most of the required infrastructure can be implemented using existing hardware and cloud-based services with flexible, pay-as-you-go pricing models. Automation of tasks significantly lowers operational and manual labor costs, while improved efficiency and accuracy provide long-term cost savings. Overall, the benefits gained from reduced time, effort, and resource utilization outweigh the initial investment, making the project financially viable.</a:t>
            </a:r>
            <a:endParaRPr lang="en-US" sz="2000" b="1" dirty="0">
              <a:solidFill>
                <a:srgbClr val="002060"/>
              </a:solidFill>
            </a:endParaRPr>
          </a:p>
          <a:p>
            <a:endParaRPr lang="en-IN"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304800"/>
            <a:ext cx="8681719" cy="738664"/>
          </a:xfrm>
        </p:spPr>
        <p:txBody>
          <a:bodyPr/>
          <a:lstStyle/>
          <a:p>
            <a:r>
              <a:rPr lang="en-IN" sz="2400" spc="-5" dirty="0">
                <a:latin typeface="Times New Roman" panose="02020603050405020304"/>
                <a:cs typeface="Times New Roman" panose="02020603050405020304"/>
              </a:rPr>
              <a:t>3.Architectural Design</a:t>
            </a:r>
            <a:br>
              <a:rPr lang="en-IN" sz="2400" spc="-5" dirty="0">
                <a:latin typeface="Times New Roman" panose="02020603050405020304"/>
                <a:cs typeface="Times New Roman" panose="02020603050405020304"/>
              </a:rPr>
            </a:br>
            <a:endParaRPr lang="en-IN" dirty="0"/>
          </a:p>
        </p:txBody>
      </p:sp>
      <p:sp>
        <p:nvSpPr>
          <p:cNvPr id="3" name="Text Placeholder 2"/>
          <p:cNvSpPr>
            <a:spLocks noGrp="1"/>
          </p:cNvSpPr>
          <p:nvPr>
            <p:ph type="body" idx="1"/>
          </p:nvPr>
        </p:nvSpPr>
        <p:spPr>
          <a:xfrm>
            <a:off x="152645" y="762000"/>
            <a:ext cx="8531860" cy="615553"/>
          </a:xfrm>
        </p:spPr>
        <p:txBody>
          <a:bodyPr/>
          <a:lstStyle/>
          <a:p>
            <a:pPr algn="just"/>
            <a:r>
              <a:rPr lang="en-US" b="1" dirty="0"/>
              <a:t>3.1 Modules Design</a:t>
            </a:r>
          </a:p>
          <a:p>
            <a:pPr algn="just"/>
            <a:endParaRPr lang="en-IN" dirty="0"/>
          </a:p>
        </p:txBody>
      </p:sp>
      <p:sp>
        <p:nvSpPr>
          <p:cNvPr id="5" name="Text Box 4"/>
          <p:cNvSpPr txBox="1"/>
          <p:nvPr/>
        </p:nvSpPr>
        <p:spPr>
          <a:xfrm>
            <a:off x="76200" y="1219200"/>
            <a:ext cx="8909050" cy="5909310"/>
          </a:xfrm>
          <a:prstGeom prst="rect">
            <a:avLst/>
          </a:prstGeom>
        </p:spPr>
        <p:txBody>
          <a:bodyPr wrap="square">
            <a:spAutoFit/>
          </a:bodyPr>
          <a:lstStyle/>
          <a:p>
            <a:r>
              <a:rPr dirty="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Smart Scrum Doc</a:t>
            </a:r>
            <a:r>
              <a:rPr dirty="0">
                <a:latin typeface="Times New Roman" panose="02020603050405020304" pitchFamily="18" charset="0"/>
                <a:cs typeface="Times New Roman" panose="02020603050405020304" pitchFamily="18" charset="0"/>
              </a:rPr>
              <a:t> is structured into multiple modules, each catering to specific roles and functionalities. These modules ensure smooth workflow automation, secure data handling, and efficient user interaction.</a:t>
            </a:r>
          </a:p>
          <a:p>
            <a:pPr indent="0">
              <a:buNone/>
            </a:pPr>
            <a:endParaRPr lang="en-US" dirty="0">
              <a:latin typeface="Times New Roman" panose="02020603050405020304" pitchFamily="18" charset="0"/>
              <a:cs typeface="Times New Roman" panose="02020603050405020304" pitchFamily="18" charset="0"/>
            </a:endParaRPr>
          </a:p>
          <a:p>
            <a:pPr indent="0">
              <a:buNone/>
            </a:pPr>
            <a:r>
              <a:rPr lang="en-US" dirty="0">
                <a:solidFill>
                  <a:schemeClr val="tx2">
                    <a:lumMod val="75000"/>
                  </a:schemeClr>
                </a:solidFill>
                <a:latin typeface="Times New Roman" panose="02020603050405020304" pitchFamily="18" charset="0"/>
                <a:cs typeface="Times New Roman" panose="02020603050405020304" pitchFamily="18" charset="0"/>
              </a:rPr>
              <a:t>User Interface Module</a:t>
            </a:r>
            <a:endParaRPr dirty="0">
              <a:solidFill>
                <a:schemeClr val="tx2">
                  <a:lumMod val="75000"/>
                </a:schemeClr>
              </a:solidFill>
              <a:latin typeface="Times New Roman" panose="02020603050405020304" pitchFamily="18" charset="0"/>
              <a:cs typeface="Times New Roman" panose="02020603050405020304" pitchFamily="18" charset="0"/>
            </a:endParaRPr>
          </a:p>
          <a:p>
            <a:pPr lvl="1">
              <a:buFont typeface="Arial" panose="020B0604020202020204"/>
              <a:buChar char="◦"/>
            </a:pPr>
            <a:r>
              <a:rPr lang="en-US" dirty="0">
                <a:latin typeface="Times New Roman" panose="02020603050405020304" pitchFamily="18" charset="0"/>
                <a:cs typeface="Times New Roman" panose="02020603050405020304" pitchFamily="18" charset="0"/>
              </a:rPr>
              <a:t>To provide an easy and interactive way for users to record or upload meetings and access transcripts and summaries.</a:t>
            </a:r>
          </a:p>
          <a:p>
            <a:pPr lvl="1">
              <a:buFont typeface="Arial" panose="020B0604020202020204"/>
              <a:buChar char="◦"/>
            </a:pPr>
            <a:r>
              <a:rPr lang="en-US" dirty="0">
                <a:latin typeface="Times New Roman" panose="02020603050405020304" pitchFamily="18" charset="0"/>
                <a:cs typeface="Times New Roman" panose="02020603050405020304" pitchFamily="18" charset="0"/>
              </a:rPr>
              <a:t>The interface allows users to start/stop recording or upload audio files. It sends the audio input to the backend modules and displays the generated transcript, summary, and action items.</a:t>
            </a:r>
            <a:endParaRPr dirty="0">
              <a:latin typeface="Times New Roman" panose="02020603050405020304" pitchFamily="18" charset="0"/>
              <a:cs typeface="Times New Roman" panose="02020603050405020304" pitchFamily="18" charset="0"/>
            </a:endParaRPr>
          </a:p>
          <a:p>
            <a:pPr indent="0">
              <a:buNone/>
            </a:pPr>
            <a:r>
              <a:rPr lang="en-US" dirty="0">
                <a:solidFill>
                  <a:schemeClr val="tx2">
                    <a:lumMod val="75000"/>
                  </a:schemeClr>
                </a:solidFill>
                <a:latin typeface="Times New Roman" panose="02020603050405020304" pitchFamily="18" charset="0"/>
                <a:cs typeface="Times New Roman" panose="02020603050405020304" pitchFamily="18" charset="0"/>
              </a:rPr>
              <a:t>Audio Capture &amp; Preprocessing Module</a:t>
            </a:r>
            <a:endParaRPr dirty="0">
              <a:solidFill>
                <a:schemeClr val="tx2">
                  <a:lumMod val="75000"/>
                </a:schemeClr>
              </a:solidFill>
              <a:latin typeface="Times New Roman" panose="02020603050405020304" pitchFamily="18" charset="0"/>
              <a:cs typeface="Times New Roman" panose="02020603050405020304" pitchFamily="18" charset="0"/>
            </a:endParaRPr>
          </a:p>
          <a:p>
            <a:pPr lvl="1">
              <a:buFont typeface="Arial" panose="020B0604020202020204"/>
              <a:buChar char="◦"/>
            </a:pPr>
            <a:r>
              <a:rPr lang="en-US" dirty="0">
                <a:latin typeface="Times New Roman" panose="02020603050405020304" pitchFamily="18" charset="0"/>
                <a:cs typeface="Times New Roman" panose="02020603050405020304" pitchFamily="18" charset="0"/>
              </a:rPr>
              <a:t>Raw audio often contains noise, silence, and volume variations that reduce recognition accuracy.</a:t>
            </a:r>
            <a:endParaRPr dirty="0">
              <a:latin typeface="Times New Roman" panose="02020603050405020304" pitchFamily="18" charset="0"/>
              <a:cs typeface="Times New Roman" panose="02020603050405020304" pitchFamily="18" charset="0"/>
            </a:endParaRPr>
          </a:p>
          <a:p>
            <a:pPr lvl="1">
              <a:buFont typeface="Arial" panose="020B0604020202020204"/>
              <a:buChar char="◦"/>
            </a:pPr>
            <a:r>
              <a:rPr lang="en-US" dirty="0">
                <a:latin typeface="Times New Roman" panose="02020603050405020304" pitchFamily="18" charset="0"/>
                <a:cs typeface="Times New Roman" panose="02020603050405020304" pitchFamily="18" charset="0"/>
              </a:rPr>
              <a:t>The module captures audio and applies noise reduction, normalization, and segmentation to enhance speech clarity before further processing.</a:t>
            </a:r>
            <a:endParaRPr dirty="0">
              <a:latin typeface="Times New Roman" panose="02020603050405020304" pitchFamily="18" charset="0"/>
              <a:cs typeface="Times New Roman" panose="02020603050405020304" pitchFamily="18" charset="0"/>
            </a:endParaRPr>
          </a:p>
          <a:p>
            <a:pPr indent="0">
              <a:buNone/>
            </a:pPr>
            <a:r>
              <a:rPr lang="en-US" dirty="0">
                <a:solidFill>
                  <a:schemeClr val="tx2">
                    <a:lumMod val="75000"/>
                  </a:schemeClr>
                </a:solidFill>
                <a:latin typeface="Times New Roman" panose="02020603050405020304" pitchFamily="18" charset="0"/>
                <a:cs typeface="Times New Roman" panose="02020603050405020304" pitchFamily="18" charset="0"/>
              </a:rPr>
              <a:t>Voice Activity Detection (VAD) Module</a:t>
            </a:r>
            <a:endParaRPr dirty="0">
              <a:solidFill>
                <a:schemeClr val="tx2">
                  <a:lumMod val="75000"/>
                </a:schemeClr>
              </a:solidFill>
              <a:latin typeface="Times New Roman" panose="02020603050405020304" pitchFamily="18" charset="0"/>
              <a:cs typeface="Times New Roman" panose="02020603050405020304" pitchFamily="18" charset="0"/>
            </a:endParaRPr>
          </a:p>
          <a:p>
            <a:pPr lvl="1">
              <a:buFont typeface="Arial" panose="020B0604020202020204"/>
              <a:buChar char="◦"/>
            </a:pPr>
            <a:r>
              <a:rPr lang="en-US" dirty="0">
                <a:latin typeface="Times New Roman" panose="02020603050405020304" pitchFamily="18" charset="0"/>
                <a:cs typeface="Times New Roman" panose="02020603050405020304" pitchFamily="18" charset="0"/>
              </a:rPr>
              <a:t>To remove silence and background sounds, reducing unnecessary processing and improving efficiency.</a:t>
            </a:r>
            <a:endParaRPr dirty="0">
              <a:latin typeface="Times New Roman" panose="02020603050405020304" pitchFamily="18" charset="0"/>
              <a:cs typeface="Times New Roman" panose="02020603050405020304" pitchFamily="18" charset="0"/>
            </a:endParaRPr>
          </a:p>
          <a:p>
            <a:pPr lvl="1">
              <a:buFont typeface="Arial" panose="020B0604020202020204"/>
              <a:buChar char="◦"/>
            </a:pPr>
            <a:r>
              <a:rPr lang="en-US" dirty="0">
                <a:latin typeface="Times New Roman" panose="02020603050405020304" pitchFamily="18" charset="0"/>
                <a:cs typeface="Times New Roman" panose="02020603050405020304" pitchFamily="18" charset="0"/>
              </a:rPr>
              <a:t>It detects time segments containing human speech and filters out non-speech portions, forwarding only relevant audio to the speech recognition module.</a:t>
            </a:r>
          </a:p>
          <a:p>
            <a:pPr lvl="1">
              <a:buFont typeface="Arial" panose="020B0604020202020204"/>
              <a:buChar char="◦"/>
            </a:pP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28879" y="228473"/>
            <a:ext cx="8531860" cy="6647974"/>
          </a:xfrm>
        </p:spPr>
        <p:txBody>
          <a:bodyPr/>
          <a:lstStyle/>
          <a:p>
            <a:pPr indent="0">
              <a:buNone/>
            </a:pPr>
            <a:r>
              <a:rPr lang="en-US" sz="1800" dirty="0"/>
              <a:t>Speech-to-Text (ASR) Module</a:t>
            </a:r>
            <a:endParaRPr sz="1800" dirty="0">
              <a:latin typeface="Times New Roman" panose="02020603050405020304" pitchFamily="18" charset="0"/>
              <a:cs typeface="Times New Roman" panose="02020603050405020304" pitchFamily="18" charset="0"/>
            </a:endParaRPr>
          </a:p>
          <a:p>
            <a:pPr lvl="1">
              <a:buFont typeface="Arial" panose="020B0604020202020204"/>
              <a:buChar char="◦"/>
            </a:pPr>
            <a:r>
              <a:rPr lang="en-US" dirty="0">
                <a:latin typeface="Times New Roman" panose="02020603050405020304" pitchFamily="18" charset="0"/>
                <a:cs typeface="Times New Roman" panose="02020603050405020304" pitchFamily="18" charset="0"/>
              </a:rPr>
              <a:t>To convert spoken meeting audio into readable text automatically.</a:t>
            </a:r>
            <a:endParaRPr sz="1800" dirty="0">
              <a:latin typeface="Times New Roman" panose="02020603050405020304" pitchFamily="18" charset="0"/>
              <a:cs typeface="Times New Roman" panose="02020603050405020304" pitchFamily="18" charset="0"/>
            </a:endParaRPr>
          </a:p>
          <a:p>
            <a:pPr lvl="1">
              <a:buFont typeface="Arial" panose="020B0604020202020204"/>
              <a:buChar char="◦"/>
            </a:pPr>
            <a:r>
              <a:rPr lang="en-US" dirty="0">
                <a:latin typeface="Times New Roman" panose="02020603050405020304" pitchFamily="18" charset="0"/>
                <a:cs typeface="Times New Roman" panose="02020603050405020304" pitchFamily="18" charset="0"/>
              </a:rPr>
              <a:t>Using trained ASR models, the module processes speech segments and generates accurate textual transcripts in real time or batch mode.</a:t>
            </a:r>
            <a:endParaRPr sz="1800" dirty="0">
              <a:latin typeface="Times New Roman" panose="02020603050405020304" pitchFamily="18" charset="0"/>
              <a:cs typeface="Times New Roman" panose="02020603050405020304" pitchFamily="18" charset="0"/>
            </a:endParaRPr>
          </a:p>
          <a:p>
            <a:pPr indent="0">
              <a:buNone/>
            </a:pPr>
            <a:r>
              <a:rPr lang="en-US" sz="1800" dirty="0"/>
              <a:t>Speaker Diarization Module</a:t>
            </a:r>
            <a:endParaRPr sz="1800" dirty="0">
              <a:latin typeface="Times New Roman" panose="02020603050405020304" pitchFamily="18" charset="0"/>
              <a:cs typeface="Times New Roman" panose="02020603050405020304" pitchFamily="18" charset="0"/>
            </a:endParaRPr>
          </a:p>
          <a:p>
            <a:pPr lvl="1">
              <a:buFont typeface="Arial" panose="020B0604020202020204"/>
              <a:buChar char="◦"/>
            </a:pPr>
            <a:r>
              <a:rPr lang="en-US" dirty="0">
                <a:latin typeface="Times New Roman" panose="02020603050405020304" pitchFamily="18" charset="0"/>
                <a:cs typeface="Times New Roman" panose="02020603050405020304" pitchFamily="18" charset="0"/>
              </a:rPr>
              <a:t>Meetings involve multiple participants, making it necessary to identify who spoke at each moment.</a:t>
            </a:r>
            <a:endParaRPr sz="1800" dirty="0">
              <a:latin typeface="Times New Roman" panose="02020603050405020304" pitchFamily="18" charset="0"/>
              <a:cs typeface="Times New Roman" panose="02020603050405020304" pitchFamily="18" charset="0"/>
            </a:endParaRPr>
          </a:p>
          <a:p>
            <a:pPr lvl="1">
              <a:buFont typeface="Arial" panose="020B0604020202020204"/>
              <a:buChar char="◦"/>
            </a:pPr>
            <a:r>
              <a:rPr lang="en-US" dirty="0">
                <a:latin typeface="Times New Roman" panose="02020603050405020304" pitchFamily="18" charset="0"/>
                <a:cs typeface="Times New Roman" panose="02020603050405020304" pitchFamily="18" charset="0"/>
              </a:rPr>
              <a:t>The module analyzes voice characteristics to segment audio by speaker and assigns speaker labels to the transcript.</a:t>
            </a:r>
            <a:endParaRPr sz="1800" dirty="0">
              <a:latin typeface="Times New Roman" panose="02020603050405020304" pitchFamily="18" charset="0"/>
              <a:cs typeface="Times New Roman" panose="02020603050405020304" pitchFamily="18" charset="0"/>
            </a:endParaRPr>
          </a:p>
          <a:p>
            <a:pPr indent="0">
              <a:buNone/>
            </a:pPr>
            <a:r>
              <a:rPr lang="en-US" sz="1800" dirty="0"/>
              <a:t>Natural Language Processing (NLP) Module</a:t>
            </a:r>
            <a:endParaRPr sz="1800" dirty="0">
              <a:latin typeface="Times New Roman" panose="02020603050405020304" pitchFamily="18" charset="0"/>
              <a:cs typeface="Times New Roman" panose="02020603050405020304" pitchFamily="18" charset="0"/>
            </a:endParaRPr>
          </a:p>
          <a:p>
            <a:pPr lvl="1">
              <a:buFont typeface="Arial" panose="020B0604020202020204"/>
              <a:buChar char="◦"/>
            </a:pPr>
            <a:r>
              <a:rPr lang="en-US" dirty="0">
                <a:latin typeface="Times New Roman" panose="02020603050405020304" pitchFamily="18" charset="0"/>
                <a:cs typeface="Times New Roman" panose="02020603050405020304" pitchFamily="18" charset="0"/>
              </a:rPr>
              <a:t>To understand the meaning of the transcribed text and extract useful information.</a:t>
            </a:r>
            <a:endParaRPr sz="1800" dirty="0">
              <a:latin typeface="Times New Roman" panose="02020603050405020304" pitchFamily="18" charset="0"/>
              <a:cs typeface="Times New Roman" panose="02020603050405020304" pitchFamily="18" charset="0"/>
            </a:endParaRPr>
          </a:p>
          <a:p>
            <a:pPr lvl="1">
              <a:buFont typeface="Arial" panose="020B0604020202020204"/>
              <a:buChar char="◦"/>
            </a:pPr>
            <a:r>
              <a:rPr lang="en-US" dirty="0">
                <a:latin typeface="Times New Roman" panose="02020603050405020304" pitchFamily="18" charset="0"/>
                <a:cs typeface="Times New Roman" panose="02020603050405020304" pitchFamily="18" charset="0"/>
              </a:rPr>
              <a:t>NLP techniques identify key topics, named entities, decisions, and action items from the transcript.</a:t>
            </a:r>
          </a:p>
          <a:p>
            <a:pPr indent="0">
              <a:buNone/>
            </a:pPr>
            <a:r>
              <a:rPr lang="en-US" sz="1800" dirty="0"/>
              <a:t>Meeting Summarization Module</a:t>
            </a:r>
            <a:endParaRPr sz="1800" dirty="0">
              <a:latin typeface="Times New Roman" panose="02020603050405020304" pitchFamily="18" charset="0"/>
              <a:cs typeface="Times New Roman" panose="02020603050405020304" pitchFamily="18" charset="0"/>
            </a:endParaRPr>
          </a:p>
          <a:p>
            <a:pPr lvl="1">
              <a:buFont typeface="Arial" panose="020B0604020202020204"/>
              <a:buChar char="◦"/>
            </a:pPr>
            <a:r>
              <a:rPr lang="en-US" dirty="0">
                <a:latin typeface="Times New Roman" panose="02020603050405020304" pitchFamily="18" charset="0"/>
                <a:cs typeface="Times New Roman" panose="02020603050405020304" pitchFamily="18" charset="0"/>
              </a:rPr>
              <a:t>Long transcripts are time-consuming to review.</a:t>
            </a:r>
          </a:p>
          <a:p>
            <a:pPr lvl="1">
              <a:buFont typeface="Arial" panose="020B0604020202020204"/>
              <a:buChar char="◦"/>
            </a:pPr>
            <a:r>
              <a:rPr lang="en-US" dirty="0">
                <a:latin typeface="Times New Roman" panose="02020603050405020304" pitchFamily="18" charset="0"/>
                <a:cs typeface="Times New Roman" panose="02020603050405020304" pitchFamily="18" charset="0"/>
              </a:rPr>
              <a:t>The module applies extractive or abstractive summarization techniques to generate concise meeting summaries highlighting important discussions and outcomes.</a:t>
            </a:r>
            <a:endParaRPr sz="1800" dirty="0">
              <a:latin typeface="Times New Roman" panose="02020603050405020304" pitchFamily="18" charset="0"/>
              <a:cs typeface="Times New Roman" panose="02020603050405020304" pitchFamily="18" charset="0"/>
            </a:endParaRPr>
          </a:p>
          <a:p>
            <a:pPr indent="0">
              <a:buNone/>
            </a:pPr>
            <a:r>
              <a:rPr lang="en-US" sz="1800" dirty="0"/>
              <a:t>Structured Transcript Generator Module</a:t>
            </a:r>
            <a:endParaRPr sz="1800" dirty="0">
              <a:latin typeface="Times New Roman" panose="02020603050405020304" pitchFamily="18" charset="0"/>
              <a:cs typeface="Times New Roman" panose="02020603050405020304" pitchFamily="18" charset="0"/>
            </a:endParaRPr>
          </a:p>
          <a:p>
            <a:pPr lvl="1">
              <a:buFont typeface="Arial" panose="020B0604020202020204"/>
              <a:buChar char="◦"/>
            </a:pPr>
            <a:r>
              <a:rPr lang="en-US" dirty="0">
                <a:latin typeface="Times New Roman" panose="02020603050405020304" pitchFamily="18" charset="0"/>
                <a:cs typeface="Times New Roman" panose="02020603050405020304" pitchFamily="18" charset="0"/>
              </a:rPr>
              <a:t>Unstructured text is difficult to read and analyze.</a:t>
            </a:r>
            <a:endParaRPr sz="1800" dirty="0">
              <a:latin typeface="Times New Roman" panose="02020603050405020304" pitchFamily="18" charset="0"/>
              <a:cs typeface="Times New Roman" panose="02020603050405020304" pitchFamily="18" charset="0"/>
            </a:endParaRPr>
          </a:p>
          <a:p>
            <a:pPr lvl="1">
              <a:buFont typeface="Arial" panose="020B0604020202020204"/>
              <a:buChar char="◦"/>
            </a:pPr>
            <a:r>
              <a:rPr lang="en-US" dirty="0">
                <a:latin typeface="Times New Roman" panose="02020603050405020304" pitchFamily="18" charset="0"/>
                <a:cs typeface="Times New Roman" panose="02020603050405020304" pitchFamily="18" charset="0"/>
              </a:rPr>
              <a:t>It organizes the transcript into a structured format with speaker names, timestamps, summaries, and action items.</a:t>
            </a:r>
            <a:endParaRPr sz="1800" dirty="0">
              <a:latin typeface="Times New Roman" panose="02020603050405020304" pitchFamily="18" charset="0"/>
              <a:cs typeface="Times New Roman" panose="02020603050405020304" pitchFamily="18" charset="0"/>
            </a:endParaRPr>
          </a:p>
          <a:p>
            <a:r>
              <a:rPr sz="1800" dirty="0">
                <a:latin typeface="Times New Roman" panose="02020603050405020304" pitchFamily="18" charset="0"/>
                <a:cs typeface="Times New Roman" panose="02020603050405020304" pitchFamily="18" charset="0"/>
                <a:sym typeface="+mn-ea"/>
              </a:rPr>
              <a:t>Each module ensures efficient collaboration, transparency, and automation, making the system scalable, secure, and user-friendly.</a:t>
            </a:r>
            <a:endParaRPr sz="1800" dirty="0">
              <a:latin typeface="Times New Roman" panose="02020603050405020304" pitchFamily="18" charset="0"/>
              <a:cs typeface="Times New Roman" panose="02020603050405020304" pitchFamily="18" charset="0"/>
            </a:endParaRPr>
          </a:p>
          <a:p>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28600" y="152400"/>
            <a:ext cx="8760460" cy="6924973"/>
          </a:xfrm>
        </p:spPr>
        <p:txBody>
          <a:bodyPr/>
          <a:lstStyle/>
          <a:p>
            <a:pPr algn="just"/>
            <a:r>
              <a:rPr lang="en-US" sz="1800" b="1" dirty="0">
                <a:latin typeface="Times New Roman" panose="02020603050405020304" pitchFamily="18" charset="0"/>
                <a:cs typeface="Times New Roman" panose="02020603050405020304" pitchFamily="18" charset="0"/>
              </a:rPr>
              <a:t>3.2 Methods and Algorithms:</a:t>
            </a:r>
          </a:p>
          <a:p>
            <a:endParaRPr lang="en-US" sz="1800" b="1" dirty="0">
              <a:latin typeface="Times New Roman" panose="02020603050405020304" pitchFamily="18" charset="0"/>
              <a:cs typeface="Times New Roman" panose="02020603050405020304" pitchFamily="18" charset="0"/>
            </a:endParaRPr>
          </a:p>
          <a:p>
            <a:pPr algn="just"/>
            <a:r>
              <a:rPr lang="en-US" altLang="en-US" sz="1800" dirty="0">
                <a:latin typeface="Times New Roman" panose="02020603050405020304" pitchFamily="18" charset="0"/>
                <a:cs typeface="Times New Roman" panose="02020603050405020304" pitchFamily="18" charset="0"/>
              </a:rPr>
              <a:t>Methods &amp; Algorithm of  Smart Scrum Doc</a:t>
            </a:r>
          </a:p>
          <a:p>
            <a:pPr algn="just"/>
            <a:endParaRPr lang="en-US" altLang="en-US" sz="1800" dirty="0">
              <a:latin typeface="Times New Roman" panose="02020603050405020304" pitchFamily="18" charset="0"/>
              <a:cs typeface="Times New Roman" panose="02020603050405020304" pitchFamily="18" charset="0"/>
            </a:endParaRPr>
          </a:p>
          <a:p>
            <a:pPr algn="just"/>
            <a:r>
              <a:rPr lang="en-US" altLang="en-US" sz="1800" dirty="0">
                <a:solidFill>
                  <a:schemeClr val="tx1"/>
                </a:solidFill>
                <a:latin typeface="Times New Roman" panose="02020603050405020304" pitchFamily="18" charset="0"/>
                <a:cs typeface="Times New Roman" panose="02020603050405020304" pitchFamily="18" charset="0"/>
              </a:rPr>
              <a:t>The Smart Scrum Doc is developed using </a:t>
            </a:r>
            <a:r>
              <a:rPr lang="en-US" altLang="en-US" sz="1800" dirty="0" err="1">
                <a:solidFill>
                  <a:schemeClr val="tx1"/>
                </a:solidFill>
                <a:latin typeface="Times New Roman" panose="02020603050405020304" pitchFamily="18" charset="0"/>
                <a:cs typeface="Times New Roman" panose="02020603050405020304" pitchFamily="18" charset="0"/>
              </a:rPr>
              <a:t>Django</a:t>
            </a:r>
            <a:r>
              <a:rPr lang="en-US" altLang="en-US" sz="1800" dirty="0">
                <a:solidFill>
                  <a:schemeClr val="tx1"/>
                </a:solidFill>
                <a:latin typeface="Times New Roman" panose="02020603050405020304" pitchFamily="18" charset="0"/>
                <a:cs typeface="Times New Roman" panose="02020603050405020304" pitchFamily="18" charset="0"/>
              </a:rPr>
              <a:t> for the user interface and SQLite for database management, ensuring a lightweight, efficient, and cost-effective solution. The following methods and algorithms facilitate smooth workflow automation and data handling.</a:t>
            </a:r>
          </a:p>
          <a:p>
            <a:r>
              <a:rPr lang="en-US" sz="1800" dirty="0"/>
              <a:t>1. </a:t>
            </a:r>
            <a:r>
              <a:rPr lang="en-US" sz="1800" b="1" dirty="0"/>
              <a:t>Meeting Creation &amp; Audio Capture Module</a:t>
            </a:r>
          </a:p>
          <a:p>
            <a:r>
              <a:rPr lang="en-US" sz="1800" b="1" dirty="0"/>
              <a:t>Method:</a:t>
            </a:r>
            <a:endParaRPr lang="en-US" sz="1800" dirty="0"/>
          </a:p>
          <a:p>
            <a:pPr marL="285750" indent="-285750">
              <a:buFont typeface="Arial" panose="020B0604020202020204" pitchFamily="34" charset="0"/>
              <a:buChar char="•"/>
            </a:pPr>
            <a:r>
              <a:rPr lang="en-US" sz="1800" dirty="0">
                <a:solidFill>
                  <a:schemeClr val="tx1"/>
                </a:solidFill>
              </a:rPr>
              <a:t>Enables authenticated users to create and join meeting sessions.</a:t>
            </a:r>
          </a:p>
          <a:p>
            <a:pPr marL="285750" indent="-285750">
              <a:buFont typeface="Arial" panose="020B0604020202020204" pitchFamily="34" charset="0"/>
              <a:buChar char="•"/>
            </a:pPr>
            <a:r>
              <a:rPr lang="en-US" sz="1800" dirty="0">
                <a:solidFill>
                  <a:schemeClr val="tx1"/>
                </a:solidFill>
              </a:rPr>
              <a:t>Captures real-time audio streams from multiple participants.</a:t>
            </a:r>
          </a:p>
          <a:p>
            <a:r>
              <a:rPr lang="en-US" sz="1800" b="1" dirty="0"/>
              <a:t>Algorithm:</a:t>
            </a:r>
            <a:endParaRPr lang="en-US" sz="1800" dirty="0"/>
          </a:p>
          <a:p>
            <a:pPr marL="285750" indent="-285750">
              <a:buFont typeface="Arial" panose="020B0604020202020204" pitchFamily="34" charset="0"/>
              <a:buChar char="•"/>
            </a:pPr>
            <a:r>
              <a:rPr lang="en-US" sz="1800" dirty="0">
                <a:solidFill>
                  <a:schemeClr val="tx1"/>
                </a:solidFill>
              </a:rPr>
              <a:t>User clicks “Create/Join Meeting”.</a:t>
            </a:r>
          </a:p>
          <a:p>
            <a:pPr marL="285750" indent="-285750">
              <a:buFont typeface="Arial" panose="020B0604020202020204" pitchFamily="34" charset="0"/>
              <a:buChar char="•"/>
            </a:pPr>
            <a:r>
              <a:rPr lang="en-US" sz="1800" dirty="0">
                <a:solidFill>
                  <a:schemeClr val="tx1"/>
                </a:solidFill>
              </a:rPr>
              <a:t>System initializes audio recording session.</a:t>
            </a:r>
          </a:p>
          <a:p>
            <a:pPr marL="285750" indent="-285750">
              <a:buFont typeface="Arial" panose="020B0604020202020204" pitchFamily="34" charset="0"/>
              <a:buChar char="•"/>
            </a:pPr>
            <a:r>
              <a:rPr lang="en-US" sz="1800" dirty="0">
                <a:solidFill>
                  <a:schemeClr val="tx1"/>
                </a:solidFill>
              </a:rPr>
              <a:t>Audio input is continuously captured during the meeting.</a:t>
            </a:r>
          </a:p>
          <a:p>
            <a:pPr marL="285750" indent="-285750">
              <a:buFont typeface="Arial" panose="020B0604020202020204" pitchFamily="34" charset="0"/>
              <a:buChar char="•"/>
            </a:pPr>
            <a:r>
              <a:rPr lang="en-US" sz="1800" dirty="0">
                <a:solidFill>
                  <a:schemeClr val="tx1"/>
                </a:solidFill>
              </a:rPr>
              <a:t>Audio data is forwarded to preprocessing module.</a:t>
            </a:r>
          </a:p>
          <a:p>
            <a:pPr indent="0" algn="just">
              <a:buFont typeface="Arial" panose="020B0604020202020204" pitchFamily="34" charset="0"/>
              <a:buNone/>
            </a:pPr>
            <a:endParaRPr lang="en-US" altLang="en-US" sz="1800" dirty="0">
              <a:latin typeface="Times New Roman" panose="02020603050405020304" pitchFamily="18" charset="0"/>
              <a:cs typeface="Times New Roman" panose="02020603050405020304" pitchFamily="18" charset="0"/>
            </a:endParaRPr>
          </a:p>
          <a:p>
            <a:r>
              <a:rPr lang="en-US" altLang="en-US" sz="1800" dirty="0">
                <a:latin typeface="Times New Roman" panose="02020603050405020304" pitchFamily="18" charset="0"/>
                <a:cs typeface="Times New Roman" panose="02020603050405020304" pitchFamily="18" charset="0"/>
              </a:rPr>
              <a:t>2. </a:t>
            </a:r>
            <a:r>
              <a:rPr lang="en-US" sz="1800" b="1" dirty="0"/>
              <a:t>Audio Preprocessing &amp; Voice Activity Detection (VAD)</a:t>
            </a:r>
          </a:p>
          <a:p>
            <a:r>
              <a:rPr lang="en-US" sz="1800" b="1" dirty="0"/>
              <a:t>Method:</a:t>
            </a:r>
            <a:endParaRPr lang="en-US" sz="1800" dirty="0"/>
          </a:p>
          <a:p>
            <a:pPr marL="285750" indent="-285750">
              <a:buFont typeface="Arial" panose="020B0604020202020204" pitchFamily="34" charset="0"/>
              <a:buChar char="•"/>
            </a:pPr>
            <a:r>
              <a:rPr lang="en-US" sz="1800" dirty="0">
                <a:solidFill>
                  <a:schemeClr val="tx1"/>
                </a:solidFill>
              </a:rPr>
              <a:t>Improves audio quality by removing noise and silence.</a:t>
            </a:r>
          </a:p>
          <a:p>
            <a:pPr marL="285750" indent="-285750">
              <a:buFont typeface="Arial" panose="020B0604020202020204" pitchFamily="34" charset="0"/>
              <a:buChar char="•"/>
            </a:pPr>
            <a:r>
              <a:rPr lang="en-US" sz="1800" dirty="0">
                <a:solidFill>
                  <a:schemeClr val="tx1"/>
                </a:solidFill>
              </a:rPr>
              <a:t>Uses Voice Activity Detection to identify speech segments.</a:t>
            </a:r>
          </a:p>
          <a:p>
            <a:r>
              <a:rPr lang="en-US" sz="1800" b="1" dirty="0"/>
              <a:t>Algorithm:</a:t>
            </a:r>
            <a:endParaRPr lang="en-US" sz="1800" dirty="0"/>
          </a:p>
          <a:p>
            <a:pPr marL="285750" indent="-285750">
              <a:buFont typeface="Arial" panose="020B0604020202020204" pitchFamily="34" charset="0"/>
              <a:buChar char="•"/>
            </a:pPr>
            <a:r>
              <a:rPr lang="en-US" sz="1800" dirty="0">
                <a:solidFill>
                  <a:schemeClr val="tx1"/>
                </a:solidFill>
              </a:rPr>
              <a:t>Audio signal is normalized and filtered.</a:t>
            </a:r>
          </a:p>
          <a:p>
            <a:pPr marL="285750" indent="-285750">
              <a:buFont typeface="Arial" panose="020B0604020202020204" pitchFamily="34" charset="0"/>
              <a:buChar char="•"/>
            </a:pPr>
            <a:r>
              <a:rPr lang="en-US" sz="1800" dirty="0">
                <a:solidFill>
                  <a:schemeClr val="tx1"/>
                </a:solidFill>
              </a:rPr>
              <a:t>Silence and background noise are detected.</a:t>
            </a:r>
          </a:p>
          <a:p>
            <a:pPr algn="just"/>
            <a:endParaRPr lang="en-US" altLang="en-US"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04800" y="381000"/>
            <a:ext cx="8531860" cy="6647974"/>
          </a:xfrm>
        </p:spPr>
        <p:txBody>
          <a:bodyPr/>
          <a:lstStyle/>
          <a:p>
            <a:pPr marL="285750" indent="-285750">
              <a:buFont typeface="Arial" panose="020B0604020202020204" pitchFamily="34" charset="0"/>
              <a:buChar char="•"/>
            </a:pPr>
            <a:r>
              <a:rPr lang="en-US" sz="1800" dirty="0">
                <a:solidFill>
                  <a:schemeClr val="tx1"/>
                </a:solidFill>
              </a:rPr>
              <a:t>Non-speech segments are discarded.</a:t>
            </a:r>
          </a:p>
          <a:p>
            <a:pPr marL="285750" indent="-285750">
              <a:buFont typeface="Arial" panose="020B0604020202020204" pitchFamily="34" charset="0"/>
              <a:buChar char="•"/>
            </a:pPr>
            <a:r>
              <a:rPr lang="en-US" sz="1800" dirty="0">
                <a:solidFill>
                  <a:schemeClr val="tx1"/>
                </a:solidFill>
              </a:rPr>
              <a:t>Clean speech segments are passed to next module.</a:t>
            </a:r>
          </a:p>
          <a:p>
            <a:pPr indent="0" algn="just">
              <a:buFont typeface="Arial" panose="020B0604020202020204" pitchFamily="34" charset="0"/>
              <a:buNone/>
            </a:pPr>
            <a:endParaRPr lang="en-US" altLang="en-US" sz="1800" dirty="0">
              <a:solidFill>
                <a:schemeClr val="tx1"/>
              </a:solidFill>
              <a:latin typeface="Times New Roman" panose="02020603050405020304" pitchFamily="18" charset="0"/>
              <a:cs typeface="Times New Roman" panose="02020603050405020304" pitchFamily="18" charset="0"/>
            </a:endParaRPr>
          </a:p>
          <a:p>
            <a:r>
              <a:rPr lang="en-US" altLang="en-US" sz="1800" dirty="0">
                <a:latin typeface="Times New Roman" panose="02020603050405020304" pitchFamily="18" charset="0"/>
                <a:cs typeface="Times New Roman" panose="02020603050405020304" pitchFamily="18" charset="0"/>
                <a:sym typeface="+mn-ea"/>
              </a:rPr>
              <a:t>3. </a:t>
            </a:r>
            <a:r>
              <a:rPr lang="en-US" sz="1800" b="1" dirty="0"/>
              <a:t>Speech-to-Text Conversion (ASR) </a:t>
            </a:r>
          </a:p>
          <a:p>
            <a:r>
              <a:rPr lang="en-US" sz="1800" b="1" dirty="0"/>
              <a:t>Method:</a:t>
            </a:r>
            <a:endParaRPr lang="en-US" sz="1800" dirty="0"/>
          </a:p>
          <a:p>
            <a:pPr marL="285750" indent="-285750">
              <a:buFont typeface="Arial" panose="020B0604020202020204" pitchFamily="34" charset="0"/>
              <a:buChar char="•"/>
            </a:pPr>
            <a:r>
              <a:rPr lang="en-US" sz="1800" dirty="0">
                <a:solidFill>
                  <a:schemeClr val="tx1"/>
                </a:solidFill>
              </a:rPr>
              <a:t>Converts spoken audio into textual format.</a:t>
            </a:r>
          </a:p>
          <a:p>
            <a:pPr marL="285750" indent="-285750">
              <a:buFont typeface="Arial" panose="020B0604020202020204" pitchFamily="34" charset="0"/>
              <a:buChar char="•"/>
            </a:pPr>
            <a:r>
              <a:rPr lang="en-US" sz="1800" dirty="0">
                <a:solidFill>
                  <a:schemeClr val="tx1"/>
                </a:solidFill>
              </a:rPr>
              <a:t>Generates timestamps for each spoken segment.</a:t>
            </a:r>
          </a:p>
          <a:p>
            <a:r>
              <a:rPr lang="en-US" sz="1800" b="1" dirty="0"/>
              <a:t>Algorithm:</a:t>
            </a:r>
            <a:endParaRPr lang="en-US" sz="1800" dirty="0"/>
          </a:p>
          <a:p>
            <a:pPr marL="285750" indent="-285750">
              <a:buFont typeface="Arial" panose="020B0604020202020204" pitchFamily="34" charset="0"/>
              <a:buChar char="•"/>
            </a:pPr>
            <a:r>
              <a:rPr lang="en-US" sz="1800" dirty="0">
                <a:solidFill>
                  <a:schemeClr val="tx1"/>
                </a:solidFill>
              </a:rPr>
              <a:t>Receives speaker-wise audio segments.</a:t>
            </a:r>
          </a:p>
          <a:p>
            <a:pPr marL="285750" indent="-285750">
              <a:buFont typeface="Arial" panose="020B0604020202020204" pitchFamily="34" charset="0"/>
              <a:buChar char="•"/>
            </a:pPr>
            <a:r>
              <a:rPr lang="en-US" sz="1800" dirty="0">
                <a:solidFill>
                  <a:schemeClr val="tx1"/>
                </a:solidFill>
              </a:rPr>
              <a:t>Applies Automatic Speech Recognition model.</a:t>
            </a:r>
          </a:p>
          <a:p>
            <a:pPr marL="285750" indent="-285750">
              <a:buFont typeface="Arial" panose="020B0604020202020204" pitchFamily="34" charset="0"/>
              <a:buChar char="•"/>
            </a:pPr>
            <a:r>
              <a:rPr lang="en-US" sz="1800" dirty="0">
                <a:solidFill>
                  <a:schemeClr val="tx1"/>
                </a:solidFill>
              </a:rPr>
              <a:t>Converts speech to text.</a:t>
            </a:r>
          </a:p>
          <a:p>
            <a:pPr marL="285750" indent="-285750">
              <a:buFont typeface="Arial" panose="020B0604020202020204" pitchFamily="34" charset="0"/>
              <a:buChar char="•"/>
            </a:pPr>
            <a:r>
              <a:rPr lang="en-US" sz="1800" dirty="0">
                <a:solidFill>
                  <a:schemeClr val="tx1"/>
                </a:solidFill>
              </a:rPr>
              <a:t>Attaches timestamp and speaker label.</a:t>
            </a:r>
          </a:p>
          <a:p>
            <a:pPr marL="342900" indent="-342900" algn="just">
              <a:buFont typeface="Arial" panose="020B0604020202020204" pitchFamily="34" charset="0"/>
              <a:buChar char="•"/>
            </a:pPr>
            <a:endParaRPr lang="en-US" altLang="en-US" sz="1800" dirty="0">
              <a:solidFill>
                <a:schemeClr val="tx1"/>
              </a:solidFill>
              <a:latin typeface="Times New Roman" panose="02020603050405020304" pitchFamily="18" charset="0"/>
              <a:cs typeface="Times New Roman" panose="02020603050405020304" pitchFamily="18" charset="0"/>
            </a:endParaRPr>
          </a:p>
          <a:p>
            <a:r>
              <a:rPr lang="en-US" altLang="en-US" sz="1800" dirty="0">
                <a:latin typeface="Times New Roman" panose="02020603050405020304" pitchFamily="18" charset="0"/>
                <a:cs typeface="Times New Roman" panose="02020603050405020304" pitchFamily="18" charset="0"/>
                <a:sym typeface="+mn-ea"/>
              </a:rPr>
              <a:t>4. </a:t>
            </a:r>
            <a:r>
              <a:rPr lang="en-US" sz="1800" b="1" dirty="0"/>
              <a:t>Structured Transcript Generation </a:t>
            </a:r>
          </a:p>
          <a:p>
            <a:r>
              <a:rPr lang="en-US" sz="1800" b="1" dirty="0"/>
              <a:t>Method:</a:t>
            </a:r>
            <a:endParaRPr lang="en-US" sz="1800" dirty="0"/>
          </a:p>
          <a:p>
            <a:pPr marL="285750" indent="-285750">
              <a:buFont typeface="Arial" panose="020B0604020202020204" pitchFamily="34" charset="0"/>
              <a:buChar char="•"/>
            </a:pPr>
            <a:r>
              <a:rPr lang="en-US" sz="1800" dirty="0">
                <a:solidFill>
                  <a:schemeClr val="tx1"/>
                </a:solidFill>
              </a:rPr>
              <a:t>Organizes raw transcriptions into a readable structure.</a:t>
            </a:r>
          </a:p>
          <a:p>
            <a:pPr marL="285750" indent="-285750">
              <a:buFont typeface="Arial" panose="020B0604020202020204" pitchFamily="34" charset="0"/>
              <a:buChar char="•"/>
            </a:pPr>
            <a:r>
              <a:rPr lang="en-US" sz="1800" dirty="0">
                <a:solidFill>
                  <a:schemeClr val="tx1"/>
                </a:solidFill>
              </a:rPr>
              <a:t>Improves clarity for analysis and reporting.</a:t>
            </a:r>
          </a:p>
          <a:p>
            <a:r>
              <a:rPr lang="en-US" sz="1800" b="1" dirty="0"/>
              <a:t>Algorithm:</a:t>
            </a:r>
            <a:endParaRPr lang="en-US" sz="1800" dirty="0"/>
          </a:p>
          <a:p>
            <a:pPr marL="285750" indent="-285750">
              <a:buFont typeface="Arial" panose="020B0604020202020204" pitchFamily="34" charset="0"/>
              <a:buChar char="•"/>
            </a:pPr>
            <a:r>
              <a:rPr lang="en-US" sz="1800" dirty="0">
                <a:solidFill>
                  <a:schemeClr val="tx1"/>
                </a:solidFill>
              </a:rPr>
              <a:t>Collects ASR Output.</a:t>
            </a:r>
          </a:p>
          <a:p>
            <a:pPr marL="285750" indent="-285750">
              <a:buFont typeface="Arial" panose="020B0604020202020204" pitchFamily="34" charset="0"/>
              <a:buChar char="•"/>
            </a:pPr>
            <a:r>
              <a:rPr lang="en-US" sz="1800" dirty="0">
                <a:solidFill>
                  <a:schemeClr val="tx1"/>
                </a:solidFill>
              </a:rPr>
              <a:t>Format data as :</a:t>
            </a:r>
          </a:p>
          <a:p>
            <a:pPr marL="742950" lvl="1" indent="-285750">
              <a:buFont typeface="Arial" panose="020B0604020202020204" pitchFamily="34" charset="0"/>
              <a:buChar char="•"/>
            </a:pPr>
            <a:r>
              <a:rPr lang="en-US" sz="1600" dirty="0">
                <a:solidFill>
                  <a:schemeClr val="tx1"/>
                </a:solidFill>
              </a:rPr>
              <a:t>Speaker id – timestamp - text</a:t>
            </a:r>
          </a:p>
          <a:p>
            <a:pPr marL="285750" indent="-285750">
              <a:buFont typeface="Arial" panose="020B0604020202020204" pitchFamily="34" charset="0"/>
              <a:buChar char="•"/>
            </a:pPr>
            <a:r>
              <a:rPr lang="en-US" sz="1800" dirty="0">
                <a:solidFill>
                  <a:schemeClr val="tx1"/>
                </a:solidFill>
              </a:rPr>
              <a:t>Stores structured transcript in database</a:t>
            </a:r>
          </a:p>
          <a:p>
            <a:pPr marL="285750" indent="-285750">
              <a:buFont typeface="Arial" panose="020B0604020202020204" pitchFamily="34" charset="0"/>
              <a:buChar char="•"/>
            </a:pPr>
            <a:endParaRPr lang="en-US" sz="1800" dirty="0"/>
          </a:p>
          <a:p>
            <a:pPr algn="just"/>
            <a:endParaRPr lang="en-US" altLang="en-US" sz="1800" dirty="0">
              <a:solidFill>
                <a:schemeClr val="tx1"/>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52400" y="304800"/>
            <a:ext cx="8763000" cy="5632311"/>
          </a:xfrm>
          <a:prstGeom prst="rect">
            <a:avLst/>
          </a:prstGeom>
        </p:spPr>
        <p:txBody>
          <a:bodyPr wrap="square">
            <a:spAutoFit/>
          </a:bodyPr>
          <a:lstStyle/>
          <a:p>
            <a:r>
              <a:rPr lang="en-US" altLang="en-US" dirty="0">
                <a:solidFill>
                  <a:schemeClr val="tx2"/>
                </a:solidFill>
                <a:latin typeface="Times New Roman" panose="02020603050405020304" pitchFamily="18" charset="0"/>
                <a:cs typeface="Times New Roman" panose="02020603050405020304" pitchFamily="18" charset="0"/>
              </a:rPr>
              <a:t>5. </a:t>
            </a:r>
            <a:r>
              <a:rPr lang="en-US" b="1" dirty="0">
                <a:solidFill>
                  <a:schemeClr val="tx2">
                    <a:lumMod val="75000"/>
                  </a:schemeClr>
                </a:solidFill>
                <a:latin typeface="Times New Roman" panose="02020603050405020304" pitchFamily="18" charset="0"/>
                <a:cs typeface="Times New Roman" panose="02020603050405020304" pitchFamily="18" charset="0"/>
              </a:rPr>
              <a:t>NLP-Based Product Backlog Extraction </a:t>
            </a:r>
          </a:p>
          <a:p>
            <a:r>
              <a:rPr lang="en-US" b="1" dirty="0">
                <a:solidFill>
                  <a:schemeClr val="tx2">
                    <a:lumMod val="75000"/>
                  </a:schemeClr>
                </a:solidFill>
                <a:latin typeface="Times New Roman" panose="02020603050405020304" pitchFamily="18" charset="0"/>
                <a:cs typeface="Times New Roman" panose="02020603050405020304" pitchFamily="18" charset="0"/>
              </a:rPr>
              <a:t>Method:</a:t>
            </a:r>
            <a:endParaRPr lang="en-US" dirty="0">
              <a:solidFill>
                <a:schemeClr val="tx2">
                  <a:lumMod val="75000"/>
                </a:schemeClr>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Identifies product backlog items mentioned by the client.</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Uses Natural Language Processing techniques.</a:t>
            </a:r>
          </a:p>
          <a:p>
            <a:r>
              <a:rPr lang="en-US" b="1" dirty="0">
                <a:solidFill>
                  <a:schemeClr val="tx2">
                    <a:lumMod val="75000"/>
                  </a:schemeClr>
                </a:solidFill>
                <a:latin typeface="Times New Roman" panose="02020603050405020304" pitchFamily="18" charset="0"/>
                <a:cs typeface="Times New Roman" panose="02020603050405020304" pitchFamily="18" charset="0"/>
              </a:rPr>
              <a:t>Algorithm:</a:t>
            </a:r>
            <a:endParaRPr lang="en-US" dirty="0">
              <a:solidFill>
                <a:schemeClr val="tx2">
                  <a:lumMod val="75000"/>
                </a:schemeClr>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Tokenizes meeting transcript.</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Applies keyword matching and NER.</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Detects backlog-related statements.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Stores extracted backlog items separately.</a:t>
            </a:r>
          </a:p>
          <a:p>
            <a:endParaRPr lang="en-US" dirty="0">
              <a:latin typeface="Times New Roman" panose="02020603050405020304" pitchFamily="18" charset="0"/>
              <a:cs typeface="Times New Roman" panose="02020603050405020304" pitchFamily="18" charset="0"/>
            </a:endParaRPr>
          </a:p>
          <a:p>
            <a:r>
              <a:rPr lang="en-US" dirty="0">
                <a:solidFill>
                  <a:schemeClr val="tx2">
                    <a:lumMod val="75000"/>
                  </a:schemeClr>
                </a:solidFill>
                <a:latin typeface="Times New Roman" panose="02020603050405020304" pitchFamily="18" charset="0"/>
                <a:cs typeface="Times New Roman" panose="02020603050405020304" pitchFamily="18" charset="0"/>
              </a:rPr>
              <a:t>6. </a:t>
            </a:r>
            <a:r>
              <a:rPr lang="en-US" b="1" dirty="0">
                <a:solidFill>
                  <a:schemeClr val="tx2">
                    <a:lumMod val="75000"/>
                  </a:schemeClr>
                </a:solidFill>
                <a:latin typeface="Times New Roman" panose="02020603050405020304" pitchFamily="18" charset="0"/>
                <a:cs typeface="Times New Roman" panose="02020603050405020304" pitchFamily="18" charset="0"/>
              </a:rPr>
              <a:t>Meeting Summarization Module</a:t>
            </a:r>
          </a:p>
          <a:p>
            <a:r>
              <a:rPr lang="en-US" b="1" dirty="0">
                <a:solidFill>
                  <a:schemeClr val="tx2">
                    <a:lumMod val="75000"/>
                  </a:schemeClr>
                </a:solidFill>
                <a:latin typeface="Times New Roman" panose="02020603050405020304" pitchFamily="18" charset="0"/>
                <a:cs typeface="Times New Roman" panose="02020603050405020304" pitchFamily="18" charset="0"/>
              </a:rPr>
              <a:t>Method:</a:t>
            </a:r>
            <a:endParaRPr lang="en-US" dirty="0">
              <a:solidFill>
                <a:schemeClr val="tx2">
                  <a:lumMod val="75000"/>
                </a:schemeClr>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Reduces long transcripts into concise summaries.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Highlights important discussion points.</a:t>
            </a:r>
          </a:p>
          <a:p>
            <a:r>
              <a:rPr lang="en-US" b="1" dirty="0">
                <a:solidFill>
                  <a:schemeClr val="tx2">
                    <a:lumMod val="75000"/>
                  </a:schemeClr>
                </a:solidFill>
                <a:latin typeface="Times New Roman" panose="02020603050405020304" pitchFamily="18" charset="0"/>
                <a:cs typeface="Times New Roman" panose="02020603050405020304" pitchFamily="18" charset="0"/>
              </a:rPr>
              <a:t>Algorithm:</a:t>
            </a:r>
            <a:endParaRPr lang="en-US" dirty="0">
              <a:solidFill>
                <a:schemeClr val="tx2">
                  <a:lumMod val="75000"/>
                </a:schemeClr>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Analyzes full transcript.</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Identifies key sentences.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Generates summary using summarization algorithm.</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Stores final meeting summary.</a:t>
            </a:r>
          </a:p>
          <a:p>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28600" y="372070"/>
            <a:ext cx="8531860" cy="1846659"/>
          </a:xfrm>
        </p:spPr>
        <p:txBody>
          <a:bodyPr/>
          <a:lstStyle/>
          <a:p>
            <a:pPr algn="just"/>
            <a:r>
              <a:rPr lang="en-US" b="1" dirty="0"/>
              <a:t>3.3 Project Architecture:</a:t>
            </a:r>
          </a:p>
          <a:p>
            <a:pPr algn="just"/>
            <a:r>
              <a:rPr lang="en-US" b="1" dirty="0"/>
              <a:t>3.3.1 Architecture Diagram:</a:t>
            </a:r>
          </a:p>
          <a:p>
            <a:pPr algn="just"/>
            <a:endParaRPr lang="en-US" dirty="0"/>
          </a:p>
          <a:p>
            <a:pPr algn="just"/>
            <a:endParaRPr lang="en-US" dirty="0"/>
          </a:p>
          <a:p>
            <a:pPr algn="just"/>
            <a:endParaRPr lang="en-US" dirty="0"/>
          </a:p>
          <a:p>
            <a:pPr algn="just"/>
            <a:endParaRPr lang="en-IN" dirty="0"/>
          </a:p>
        </p:txBody>
      </p:sp>
      <p:pic>
        <p:nvPicPr>
          <p:cNvPr id="5122" name="Picture 2" descr="PlantUML Diagra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057400"/>
            <a:ext cx="8605490" cy="35052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32695" y="311818"/>
            <a:ext cx="8531860" cy="307777"/>
          </a:xfrm>
        </p:spPr>
        <p:txBody>
          <a:bodyPr/>
          <a:lstStyle/>
          <a:p>
            <a:r>
              <a:rPr lang="en-IN" b="1" dirty="0"/>
              <a:t>3.2.2  Class Diagram:</a:t>
            </a:r>
          </a:p>
        </p:txBody>
      </p:sp>
      <p:pic>
        <p:nvPicPr>
          <p:cNvPr id="4098" name="Picture 2" descr="PlantUML Diagra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371600"/>
            <a:ext cx="8518818" cy="46482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1140" y="99948"/>
            <a:ext cx="8681719" cy="738664"/>
          </a:xfrm>
        </p:spPr>
        <p:txBody>
          <a:bodyPr/>
          <a:lstStyle/>
          <a:p>
            <a:br>
              <a:rPr lang="en-US" dirty="0"/>
            </a:br>
            <a:endParaRPr lang="en-IN" dirty="0"/>
          </a:p>
        </p:txBody>
      </p:sp>
      <p:sp>
        <p:nvSpPr>
          <p:cNvPr id="3" name="Text Placeholder 2"/>
          <p:cNvSpPr>
            <a:spLocks noGrp="1"/>
          </p:cNvSpPr>
          <p:nvPr>
            <p:ph type="body" idx="1"/>
          </p:nvPr>
        </p:nvSpPr>
        <p:spPr>
          <a:xfrm>
            <a:off x="88265" y="202239"/>
            <a:ext cx="8531860" cy="615553"/>
          </a:xfrm>
        </p:spPr>
        <p:txBody>
          <a:bodyPr/>
          <a:lstStyle/>
          <a:p>
            <a:pPr algn="just"/>
            <a:r>
              <a:rPr lang="en-US" b="1" dirty="0"/>
              <a:t>  3.2.3 Use Case Diagram:</a:t>
            </a:r>
          </a:p>
          <a:p>
            <a:pPr algn="just"/>
            <a:endParaRPr lang="en-US" b="1" dirty="0"/>
          </a:p>
        </p:txBody>
      </p:sp>
      <p:pic>
        <p:nvPicPr>
          <p:cNvPr id="3074" name="Picture 2" descr="PlantUML Diagra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399" y="1828800"/>
            <a:ext cx="8760460" cy="347720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5495" y="609600"/>
            <a:ext cx="8610182" cy="923330"/>
          </a:xfrm>
        </p:spPr>
        <p:txBody>
          <a:bodyPr/>
          <a:lstStyle/>
          <a:p>
            <a:r>
              <a:rPr lang="en-US" b="1" dirty="0"/>
              <a:t>  3.2.4 Sequence Diagram:</a:t>
            </a:r>
          </a:p>
          <a:p>
            <a:endParaRPr lang="en-US" b="1" dirty="0"/>
          </a:p>
          <a:p>
            <a:endParaRPr lang="en-IN" b="1" dirty="0"/>
          </a:p>
        </p:txBody>
      </p:sp>
      <p:pic>
        <p:nvPicPr>
          <p:cNvPr id="2050" name="Picture 2" descr="PlantUML Diagra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7800" y="990600"/>
            <a:ext cx="6248400" cy="551033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84487" y="99948"/>
            <a:ext cx="8531860" cy="615553"/>
          </a:xfrm>
        </p:spPr>
        <p:txBody>
          <a:bodyPr/>
          <a:lstStyle/>
          <a:p>
            <a:r>
              <a:rPr lang="en-US" b="1" dirty="0"/>
              <a:t>3.2.5 Activity Diagram:</a:t>
            </a:r>
          </a:p>
          <a:p>
            <a:endParaRPr lang="en-IN" dirty="0"/>
          </a:p>
        </p:txBody>
      </p:sp>
      <p:pic>
        <p:nvPicPr>
          <p:cNvPr id="1028" name="Picture 4" descr="PlantUML Diagra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41852" y="715501"/>
            <a:ext cx="4817129" cy="580496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156" y="304800"/>
            <a:ext cx="8681719" cy="369332"/>
          </a:xfrm>
        </p:spPr>
        <p:txBody>
          <a:bodyPr/>
          <a:lstStyle/>
          <a:p>
            <a:r>
              <a:rPr lang="en-US" dirty="0"/>
              <a:t>4. Implementation &amp; Testing</a:t>
            </a:r>
            <a:endParaRPr lang="en-IN" dirty="0"/>
          </a:p>
        </p:txBody>
      </p:sp>
      <p:sp>
        <p:nvSpPr>
          <p:cNvPr id="3" name="Text Placeholder 2"/>
          <p:cNvSpPr>
            <a:spLocks noGrp="1"/>
          </p:cNvSpPr>
          <p:nvPr>
            <p:ph type="body" idx="1"/>
          </p:nvPr>
        </p:nvSpPr>
        <p:spPr>
          <a:xfrm>
            <a:off x="2895600" y="2514600"/>
            <a:ext cx="2514600" cy="1538883"/>
          </a:xfrm>
        </p:spPr>
        <p:txBody>
          <a:bodyPr/>
          <a:lstStyle/>
          <a:p>
            <a:pPr algn="just"/>
            <a:br>
              <a:rPr lang="en-US" dirty="0"/>
            </a:br>
            <a:r>
              <a:rPr lang="en-US" dirty="0"/>
              <a:t>Present in the Laptop </a:t>
            </a:r>
            <a:br>
              <a:rPr lang="en-US" sz="8000" dirty="0"/>
            </a:br>
            <a:br>
              <a:rPr lang="en-US" dirty="0"/>
            </a:br>
            <a:endParaRPr lang="en-US" dirty="0"/>
          </a:p>
          <a:p>
            <a:pPr algn="just"/>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304800"/>
            <a:ext cx="8681719" cy="369332"/>
          </a:xfrm>
        </p:spPr>
        <p:txBody>
          <a:bodyPr/>
          <a:lstStyle/>
          <a:p>
            <a:r>
              <a:rPr lang="en-US" dirty="0"/>
              <a:t>Result:</a:t>
            </a:r>
            <a:endParaRPr lang="en-IN" dirty="0"/>
          </a:p>
        </p:txBody>
      </p:sp>
      <p:sp>
        <p:nvSpPr>
          <p:cNvPr id="3" name="Text Placeholder 2"/>
          <p:cNvSpPr>
            <a:spLocks noGrp="1"/>
          </p:cNvSpPr>
          <p:nvPr>
            <p:ph type="body" idx="1"/>
          </p:nvPr>
        </p:nvSpPr>
        <p:spPr>
          <a:xfrm>
            <a:off x="457200" y="762000"/>
            <a:ext cx="3505200" cy="307777"/>
          </a:xfrm>
        </p:spPr>
        <p:txBody>
          <a:bodyPr/>
          <a:lstStyle/>
          <a:p>
            <a:pPr algn="just"/>
            <a:r>
              <a:rPr lang="en-US" dirty="0"/>
              <a:t>Current Results Upto 2/6/26 : </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09800" y="3962400"/>
            <a:ext cx="5338791" cy="2652712"/>
          </a:xfrm>
          <a:prstGeom prst="rect">
            <a:avLst/>
          </a:prstGeo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209800" y="1077397"/>
            <a:ext cx="5747537" cy="2607945"/>
          </a:xfrm>
          <a:prstGeom prst="rect">
            <a:avLst/>
          </a:prstGeom>
        </p:spPr>
      </p:pic>
    </p:spTree>
    <p:extLst>
      <p:ext uri="{BB962C8B-B14F-4D97-AF65-F5344CB8AC3E}">
        <p14:creationId xmlns:p14="http://schemas.microsoft.com/office/powerpoint/2010/main" val="6193503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156" y="304800"/>
            <a:ext cx="8681719" cy="369332"/>
          </a:xfrm>
        </p:spPr>
        <p:txBody>
          <a:bodyPr/>
          <a:lstStyle/>
          <a:p>
            <a:r>
              <a:rPr lang="en-US" dirty="0"/>
              <a:t>4. Implementation &amp; Testing</a:t>
            </a:r>
            <a:endParaRPr lang="en-IN" dirty="0"/>
          </a:p>
        </p:txBody>
      </p:sp>
      <p:sp>
        <p:nvSpPr>
          <p:cNvPr id="3" name="Text Placeholder 2"/>
          <p:cNvSpPr>
            <a:spLocks noGrp="1"/>
          </p:cNvSpPr>
          <p:nvPr>
            <p:ph type="body" idx="1"/>
          </p:nvPr>
        </p:nvSpPr>
        <p:spPr>
          <a:xfrm>
            <a:off x="2895600" y="2514600"/>
            <a:ext cx="2514600" cy="1538883"/>
          </a:xfrm>
        </p:spPr>
        <p:txBody>
          <a:bodyPr/>
          <a:lstStyle/>
          <a:p>
            <a:pPr algn="just"/>
            <a:br>
              <a:rPr lang="en-US" dirty="0"/>
            </a:br>
            <a:r>
              <a:rPr lang="en-US" dirty="0"/>
              <a:t>Present in the Laptop </a:t>
            </a:r>
            <a:br>
              <a:rPr lang="en-US" sz="8000" dirty="0"/>
            </a:br>
            <a:br>
              <a:rPr lang="en-US" dirty="0"/>
            </a:br>
            <a:endParaRPr lang="en-US" dirty="0"/>
          </a:p>
          <a:p>
            <a:pPr algn="just"/>
            <a:endParaRPr lang="en-US"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52600" y="1012614"/>
            <a:ext cx="4648200" cy="2248567"/>
          </a:xfrm>
          <a:prstGeom prst="rect">
            <a:avLst/>
          </a:prstGeom>
        </p:spPr>
      </p:pic>
      <p:pic>
        <p:nvPicPr>
          <p:cNvPr id="5" name="Picture 4"/>
          <p:cNvPicPr>
            <a:picLocks noChangeAspect="1"/>
          </p:cNvPicPr>
          <p:nvPr/>
        </p:nvPicPr>
        <p:blipFill>
          <a:blip r:embed="rId3"/>
          <a:stretch>
            <a:fillRect/>
          </a:stretch>
        </p:blipFill>
        <p:spPr>
          <a:xfrm>
            <a:off x="457200" y="3962400"/>
            <a:ext cx="3324848" cy="947737"/>
          </a:xfrm>
          <a:prstGeom prst="rect">
            <a:avLst/>
          </a:prstGeom>
        </p:spPr>
      </p:pic>
      <p:pic>
        <p:nvPicPr>
          <p:cNvPr id="6" name="Picture 5"/>
          <p:cNvPicPr>
            <a:picLocks noChangeAspect="1"/>
          </p:cNvPicPr>
          <p:nvPr/>
        </p:nvPicPr>
        <p:blipFill>
          <a:blip r:embed="rId4"/>
          <a:stretch>
            <a:fillRect/>
          </a:stretch>
        </p:blipFill>
        <p:spPr>
          <a:xfrm>
            <a:off x="5715000" y="3867099"/>
            <a:ext cx="3012646" cy="2086076"/>
          </a:xfrm>
          <a:prstGeom prst="rect">
            <a:avLst/>
          </a:prstGeom>
        </p:spPr>
      </p:pic>
      <p:pic>
        <p:nvPicPr>
          <p:cNvPr id="7" name="Picture 6"/>
          <p:cNvPicPr>
            <a:picLocks noChangeAspect="1"/>
          </p:cNvPicPr>
          <p:nvPr/>
        </p:nvPicPr>
        <p:blipFill>
          <a:blip r:embed="rId5"/>
          <a:stretch>
            <a:fillRect/>
          </a:stretch>
        </p:blipFill>
        <p:spPr>
          <a:xfrm>
            <a:off x="533400" y="5410200"/>
            <a:ext cx="4954365" cy="896977"/>
          </a:xfrm>
          <a:prstGeom prst="rect">
            <a:avLst/>
          </a:prstGeom>
        </p:spPr>
      </p:pic>
    </p:spTree>
    <p:extLst>
      <p:ext uri="{BB962C8B-B14F-4D97-AF65-F5344CB8AC3E}">
        <p14:creationId xmlns:p14="http://schemas.microsoft.com/office/powerpoint/2010/main" val="16228231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9144000" cy="6858000"/>
          </a:xfrm>
          <a:prstGeom prst="rect">
            <a:avLst/>
          </a:prstGeom>
          <a:blipFill>
            <a:blip r:embed="rId2" cstate="print"/>
            <a:stretch>
              <a:fillRect/>
            </a:stretch>
          </a:blipFill>
        </p:spPr>
        <p:txBody>
          <a:bodyPr wrap="square" lIns="0" tIns="0" rIns="0" bIns="0" rtlCol="0"/>
          <a:lstStyle/>
          <a:p>
            <a:endParaRPr/>
          </a:p>
        </p:txBody>
      </p:sp>
      <p:sp>
        <p:nvSpPr>
          <p:cNvPr id="3" name="object 3"/>
          <p:cNvSpPr/>
          <p:nvPr/>
        </p:nvSpPr>
        <p:spPr>
          <a:xfrm>
            <a:off x="0" y="0"/>
            <a:ext cx="9144000" cy="6858000"/>
          </a:xfrm>
          <a:custGeom>
            <a:avLst/>
            <a:gdLst/>
            <a:ahLst/>
            <a:cxnLst/>
            <a:rect l="l" t="t" r="r" b="b"/>
            <a:pathLst>
              <a:path w="9144000" h="6858000">
                <a:moveTo>
                  <a:pt x="0" y="6858000"/>
                </a:moveTo>
                <a:lnTo>
                  <a:pt x="9144000" y="6858000"/>
                </a:lnTo>
                <a:lnTo>
                  <a:pt x="9144000" y="0"/>
                </a:lnTo>
                <a:lnTo>
                  <a:pt x="0" y="0"/>
                </a:lnTo>
                <a:lnTo>
                  <a:pt x="0" y="6858000"/>
                </a:lnTo>
                <a:close/>
              </a:path>
            </a:pathLst>
          </a:custGeom>
          <a:solidFill>
            <a:srgbClr val="FFFFFF"/>
          </a:solidFill>
        </p:spPr>
        <p:txBody>
          <a:bodyPr wrap="square" lIns="0" tIns="0" rIns="0" bIns="0" rtlCol="0"/>
          <a:lstStyle/>
          <a:p>
            <a:endParaRPr/>
          </a:p>
        </p:txBody>
      </p:sp>
      <p:sp>
        <p:nvSpPr>
          <p:cNvPr id="4" name="object 4"/>
          <p:cNvSpPr/>
          <p:nvPr/>
        </p:nvSpPr>
        <p:spPr>
          <a:xfrm>
            <a:off x="64007" y="70103"/>
            <a:ext cx="9013190" cy="6693534"/>
          </a:xfrm>
          <a:custGeom>
            <a:avLst/>
            <a:gdLst/>
            <a:ahLst/>
            <a:cxnLst/>
            <a:rect l="l" t="t" r="r" b="b"/>
            <a:pathLst>
              <a:path w="9013190" h="6693534">
                <a:moveTo>
                  <a:pt x="8682990" y="0"/>
                </a:moveTo>
                <a:lnTo>
                  <a:pt x="329920" y="0"/>
                </a:lnTo>
                <a:lnTo>
                  <a:pt x="281168" y="3576"/>
                </a:lnTo>
                <a:lnTo>
                  <a:pt x="234636" y="13967"/>
                </a:lnTo>
                <a:lnTo>
                  <a:pt x="190835" y="30662"/>
                </a:lnTo>
                <a:lnTo>
                  <a:pt x="150276" y="53151"/>
                </a:lnTo>
                <a:lnTo>
                  <a:pt x="113469" y="80923"/>
                </a:lnTo>
                <a:lnTo>
                  <a:pt x="80925" y="113468"/>
                </a:lnTo>
                <a:lnTo>
                  <a:pt x="53153" y="150277"/>
                </a:lnTo>
                <a:lnTo>
                  <a:pt x="30664" y="190840"/>
                </a:lnTo>
                <a:lnTo>
                  <a:pt x="13968" y="234645"/>
                </a:lnTo>
                <a:lnTo>
                  <a:pt x="3577" y="281184"/>
                </a:lnTo>
                <a:lnTo>
                  <a:pt x="0" y="329946"/>
                </a:lnTo>
                <a:lnTo>
                  <a:pt x="0" y="6363487"/>
                </a:lnTo>
                <a:lnTo>
                  <a:pt x="3577" y="6412239"/>
                </a:lnTo>
                <a:lnTo>
                  <a:pt x="13968" y="6458771"/>
                </a:lnTo>
                <a:lnTo>
                  <a:pt x="30664" y="6502571"/>
                </a:lnTo>
                <a:lnTo>
                  <a:pt x="53153" y="6543130"/>
                </a:lnTo>
                <a:lnTo>
                  <a:pt x="80925" y="6579937"/>
                </a:lnTo>
                <a:lnTo>
                  <a:pt x="113469" y="6612482"/>
                </a:lnTo>
                <a:lnTo>
                  <a:pt x="150276" y="6640254"/>
                </a:lnTo>
                <a:lnTo>
                  <a:pt x="190835" y="6662742"/>
                </a:lnTo>
                <a:lnTo>
                  <a:pt x="234636" y="6679438"/>
                </a:lnTo>
                <a:lnTo>
                  <a:pt x="281168" y="6689829"/>
                </a:lnTo>
                <a:lnTo>
                  <a:pt x="329920" y="6693406"/>
                </a:lnTo>
                <a:lnTo>
                  <a:pt x="8682990" y="6693406"/>
                </a:lnTo>
                <a:lnTo>
                  <a:pt x="8731751" y="6689829"/>
                </a:lnTo>
                <a:lnTo>
                  <a:pt x="8778290" y="6679438"/>
                </a:lnTo>
                <a:lnTo>
                  <a:pt x="8822095" y="6662742"/>
                </a:lnTo>
                <a:lnTo>
                  <a:pt x="8862658" y="6640254"/>
                </a:lnTo>
                <a:lnTo>
                  <a:pt x="8899467" y="6612482"/>
                </a:lnTo>
                <a:lnTo>
                  <a:pt x="8932012" y="6579937"/>
                </a:lnTo>
                <a:lnTo>
                  <a:pt x="8959784" y="6543130"/>
                </a:lnTo>
                <a:lnTo>
                  <a:pt x="8982273" y="6502571"/>
                </a:lnTo>
                <a:lnTo>
                  <a:pt x="8998968" y="6458771"/>
                </a:lnTo>
                <a:lnTo>
                  <a:pt x="9009359" y="6412239"/>
                </a:lnTo>
                <a:lnTo>
                  <a:pt x="9012936" y="6363487"/>
                </a:lnTo>
                <a:lnTo>
                  <a:pt x="9012936" y="329946"/>
                </a:lnTo>
                <a:lnTo>
                  <a:pt x="9009359" y="281184"/>
                </a:lnTo>
                <a:lnTo>
                  <a:pt x="8998968" y="234645"/>
                </a:lnTo>
                <a:lnTo>
                  <a:pt x="8982273" y="190840"/>
                </a:lnTo>
                <a:lnTo>
                  <a:pt x="8959784" y="150277"/>
                </a:lnTo>
                <a:lnTo>
                  <a:pt x="8932012" y="113468"/>
                </a:lnTo>
                <a:lnTo>
                  <a:pt x="8899467" y="80923"/>
                </a:lnTo>
                <a:lnTo>
                  <a:pt x="8862658" y="53151"/>
                </a:lnTo>
                <a:lnTo>
                  <a:pt x="8822095" y="30662"/>
                </a:lnTo>
                <a:lnTo>
                  <a:pt x="8778290" y="13967"/>
                </a:lnTo>
                <a:lnTo>
                  <a:pt x="8731751" y="3576"/>
                </a:lnTo>
                <a:lnTo>
                  <a:pt x="8682990" y="0"/>
                </a:lnTo>
                <a:close/>
              </a:path>
            </a:pathLst>
          </a:custGeom>
          <a:solidFill>
            <a:srgbClr val="FFFFFF"/>
          </a:solidFill>
        </p:spPr>
        <p:txBody>
          <a:bodyPr wrap="square" lIns="0" tIns="0" rIns="0" bIns="0" rtlCol="0"/>
          <a:lstStyle/>
          <a:p>
            <a:endParaRPr/>
          </a:p>
        </p:txBody>
      </p:sp>
      <p:sp>
        <p:nvSpPr>
          <p:cNvPr id="5" name="object 5"/>
          <p:cNvSpPr/>
          <p:nvPr/>
        </p:nvSpPr>
        <p:spPr>
          <a:xfrm>
            <a:off x="64007" y="70103"/>
            <a:ext cx="9013190" cy="6693534"/>
          </a:xfrm>
          <a:custGeom>
            <a:avLst/>
            <a:gdLst/>
            <a:ahLst/>
            <a:cxnLst/>
            <a:rect l="l" t="t" r="r" b="b"/>
            <a:pathLst>
              <a:path w="9013190" h="6693534">
                <a:moveTo>
                  <a:pt x="0" y="329946"/>
                </a:moveTo>
                <a:lnTo>
                  <a:pt x="3577" y="281184"/>
                </a:lnTo>
                <a:lnTo>
                  <a:pt x="13968" y="234645"/>
                </a:lnTo>
                <a:lnTo>
                  <a:pt x="30664" y="190840"/>
                </a:lnTo>
                <a:lnTo>
                  <a:pt x="53153" y="150277"/>
                </a:lnTo>
                <a:lnTo>
                  <a:pt x="80925" y="113468"/>
                </a:lnTo>
                <a:lnTo>
                  <a:pt x="113469" y="80923"/>
                </a:lnTo>
                <a:lnTo>
                  <a:pt x="150276" y="53151"/>
                </a:lnTo>
                <a:lnTo>
                  <a:pt x="190835" y="30662"/>
                </a:lnTo>
                <a:lnTo>
                  <a:pt x="234636" y="13967"/>
                </a:lnTo>
                <a:lnTo>
                  <a:pt x="281168" y="3576"/>
                </a:lnTo>
                <a:lnTo>
                  <a:pt x="329920" y="0"/>
                </a:lnTo>
                <a:lnTo>
                  <a:pt x="8682990" y="0"/>
                </a:lnTo>
                <a:lnTo>
                  <a:pt x="8731751" y="3576"/>
                </a:lnTo>
                <a:lnTo>
                  <a:pt x="8778290" y="13967"/>
                </a:lnTo>
                <a:lnTo>
                  <a:pt x="8822095" y="30662"/>
                </a:lnTo>
                <a:lnTo>
                  <a:pt x="8862658" y="53151"/>
                </a:lnTo>
                <a:lnTo>
                  <a:pt x="8899467" y="80923"/>
                </a:lnTo>
                <a:lnTo>
                  <a:pt x="8932012" y="113468"/>
                </a:lnTo>
                <a:lnTo>
                  <a:pt x="8959784" y="150277"/>
                </a:lnTo>
                <a:lnTo>
                  <a:pt x="8982273" y="190840"/>
                </a:lnTo>
                <a:lnTo>
                  <a:pt x="8998968" y="234645"/>
                </a:lnTo>
                <a:lnTo>
                  <a:pt x="9009359" y="281184"/>
                </a:lnTo>
                <a:lnTo>
                  <a:pt x="9012936" y="329946"/>
                </a:lnTo>
                <a:lnTo>
                  <a:pt x="9012936" y="6363487"/>
                </a:lnTo>
                <a:lnTo>
                  <a:pt x="9009359" y="6412239"/>
                </a:lnTo>
                <a:lnTo>
                  <a:pt x="8998968" y="6458771"/>
                </a:lnTo>
                <a:lnTo>
                  <a:pt x="8982273" y="6502571"/>
                </a:lnTo>
                <a:lnTo>
                  <a:pt x="8959784" y="6543130"/>
                </a:lnTo>
                <a:lnTo>
                  <a:pt x="8932012" y="6579937"/>
                </a:lnTo>
                <a:lnTo>
                  <a:pt x="8899467" y="6612482"/>
                </a:lnTo>
                <a:lnTo>
                  <a:pt x="8862658" y="6640254"/>
                </a:lnTo>
                <a:lnTo>
                  <a:pt x="8822095" y="6662742"/>
                </a:lnTo>
                <a:lnTo>
                  <a:pt x="8778290" y="6679438"/>
                </a:lnTo>
                <a:lnTo>
                  <a:pt x="8731751" y="6689829"/>
                </a:lnTo>
                <a:lnTo>
                  <a:pt x="8682990" y="6693406"/>
                </a:lnTo>
                <a:lnTo>
                  <a:pt x="329920" y="6693406"/>
                </a:lnTo>
                <a:lnTo>
                  <a:pt x="281168" y="6689829"/>
                </a:lnTo>
                <a:lnTo>
                  <a:pt x="234636" y="6679438"/>
                </a:lnTo>
                <a:lnTo>
                  <a:pt x="190835" y="6662742"/>
                </a:lnTo>
                <a:lnTo>
                  <a:pt x="150276" y="6640254"/>
                </a:lnTo>
                <a:lnTo>
                  <a:pt x="113469" y="6612482"/>
                </a:lnTo>
                <a:lnTo>
                  <a:pt x="80925" y="6579937"/>
                </a:lnTo>
                <a:lnTo>
                  <a:pt x="53153" y="6543130"/>
                </a:lnTo>
                <a:lnTo>
                  <a:pt x="30664" y="6502571"/>
                </a:lnTo>
                <a:lnTo>
                  <a:pt x="13968" y="6458771"/>
                </a:lnTo>
                <a:lnTo>
                  <a:pt x="3577" y="6412239"/>
                </a:lnTo>
                <a:lnTo>
                  <a:pt x="0" y="6363487"/>
                </a:lnTo>
                <a:lnTo>
                  <a:pt x="0" y="329946"/>
                </a:lnTo>
                <a:close/>
              </a:path>
            </a:pathLst>
          </a:custGeom>
          <a:ln w="6096">
            <a:solidFill>
              <a:srgbClr val="000000"/>
            </a:solidFill>
          </a:ln>
        </p:spPr>
        <p:txBody>
          <a:bodyPr wrap="square" lIns="0" tIns="0" rIns="0" bIns="0" rtlCol="0"/>
          <a:lstStyle/>
          <a:p>
            <a:endParaRPr/>
          </a:p>
        </p:txBody>
      </p:sp>
      <p:sp>
        <p:nvSpPr>
          <p:cNvPr id="6" name="object 6"/>
          <p:cNvSpPr txBox="1">
            <a:spLocks noGrp="1"/>
          </p:cNvSpPr>
          <p:nvPr>
            <p:ph type="title"/>
          </p:nvPr>
        </p:nvSpPr>
        <p:spPr>
          <a:xfrm>
            <a:off x="2209800" y="2438400"/>
            <a:ext cx="4930140" cy="1348740"/>
          </a:xfrm>
          <a:prstGeom prst="rect">
            <a:avLst/>
          </a:prstGeom>
        </p:spPr>
        <p:txBody>
          <a:bodyPr vert="horz" wrap="square" lIns="0" tIns="0" rIns="0" bIns="0" rtlCol="0">
            <a:spAutoFit/>
          </a:bodyPr>
          <a:lstStyle/>
          <a:p>
            <a:pPr marL="12700">
              <a:lnSpc>
                <a:spcPct val="100000"/>
              </a:lnSpc>
            </a:pPr>
            <a:r>
              <a:rPr sz="8800" b="0" u="none" spc="-5" dirty="0">
                <a:latin typeface="Times New Roman" panose="02020603050405020304"/>
                <a:cs typeface="Times New Roman" panose="02020603050405020304"/>
              </a:rPr>
              <a:t>Thank</a:t>
            </a:r>
            <a:r>
              <a:rPr sz="8800" b="0" u="none" spc="-420" dirty="0">
                <a:latin typeface="Times New Roman" panose="02020603050405020304"/>
                <a:cs typeface="Times New Roman" panose="02020603050405020304"/>
              </a:rPr>
              <a:t> </a:t>
            </a:r>
            <a:r>
              <a:rPr sz="8800" b="0" u="none" spc="-295" dirty="0">
                <a:latin typeface="Times New Roman" panose="02020603050405020304"/>
                <a:cs typeface="Times New Roman" panose="02020603050405020304"/>
              </a:rPr>
              <a:t>You</a:t>
            </a:r>
            <a:endParaRPr sz="8800" dirty="0">
              <a:latin typeface="Times New Roman" panose="02020603050405020304"/>
              <a:cs typeface="Times New Roman" panose="02020603050405020304"/>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212</TotalTime>
  <Words>2538</Words>
  <Application>Microsoft Office PowerPoint</Application>
  <PresentationFormat>On-screen Show (4:3)</PresentationFormat>
  <Paragraphs>203</Paragraphs>
  <Slides>25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Arial</vt:lpstr>
      <vt:lpstr>Calibri</vt:lpstr>
      <vt:lpstr>Perpetua</vt:lpstr>
      <vt:lpstr>Times New Roman</vt:lpstr>
      <vt:lpstr>YAD1aLikJo8 0</vt:lpstr>
      <vt:lpstr>Office Theme</vt:lpstr>
      <vt:lpstr>Smart Scrum Doc: Automated Scrum Meeting Documentation System  </vt:lpstr>
      <vt:lpstr>Contents :</vt:lpstr>
      <vt:lpstr>i. Abstract:</vt:lpstr>
      <vt:lpstr>PowerPoint Presentation</vt:lpstr>
      <vt:lpstr>PowerPoint Presentation</vt:lpstr>
      <vt:lpstr>2. System Analysis </vt:lpstr>
      <vt:lpstr>PowerPoint Presentation</vt:lpstr>
      <vt:lpstr>PowerPoint Presentation</vt:lpstr>
      <vt:lpstr>PowerPoint Presentation</vt:lpstr>
      <vt:lpstr>PowerPoint Presentation</vt:lpstr>
      <vt:lpstr>PowerPoint Presentation</vt:lpstr>
      <vt:lpstr>3.Architectural Design </vt:lpstr>
      <vt:lpstr>PowerPoint Presentation</vt:lpstr>
      <vt:lpstr>PowerPoint Presentation</vt:lpstr>
      <vt:lpstr>PowerPoint Presentation</vt:lpstr>
      <vt:lpstr>PowerPoint Presentation</vt:lpstr>
      <vt:lpstr>PowerPoint Presentation</vt:lpstr>
      <vt:lpstr>PowerPoint Presentation</vt:lpstr>
      <vt:lpstr> </vt:lpstr>
      <vt:lpstr>PowerPoint Presentation</vt:lpstr>
      <vt:lpstr>PowerPoint Presentation</vt:lpstr>
      <vt:lpstr>4. Implementation &amp; Testing</vt:lpstr>
      <vt:lpstr>Result:</vt:lpstr>
      <vt:lpstr>4. Implementation &amp; Testing</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CMR</dc:creator>
  <cp:lastModifiedBy>geetha sirvi</cp:lastModifiedBy>
  <cp:revision>369</cp:revision>
  <dcterms:created xsi:type="dcterms:W3CDTF">2017-08-30T15:02:00Z</dcterms:created>
  <dcterms:modified xsi:type="dcterms:W3CDTF">2026-02-06T14:44:30Z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2017-08-30T05:30:00Z</vt:filetime>
  </property>
  <property fmtid="{D5CDD505-2E9C-101B-9397-08002B2CF9AE}" pid="3" name="Creator">
    <vt:lpwstr>Microsoft® PowerPoint® 2013</vt:lpwstr>
  </property>
  <property fmtid="{D5CDD505-2E9C-101B-9397-08002B2CF9AE}" pid="4" name="LastSaved">
    <vt:filetime>2017-08-30T05:30:00Z</vt:filetime>
  </property>
  <property fmtid="{D5CDD505-2E9C-101B-9397-08002B2CF9AE}" pid="5" name="ICV">
    <vt:lpwstr>A03F2FBF572A4216B04928238027A24F_13</vt:lpwstr>
  </property>
  <property fmtid="{D5CDD505-2E9C-101B-9397-08002B2CF9AE}" pid="6" name="KSOProductBuildVer">
    <vt:lpwstr>1033-12.2.0.20326</vt:lpwstr>
  </property>
</Properties>
</file>